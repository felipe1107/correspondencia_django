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Calibri Light" panose="020F0302020204030204" pitchFamily="34" charset="0"/>
      <p:regular r:id="rId12"/>
      <p:italic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Overpass" panose="020B0604020202020204" charset="0"/>
      <p:regular r:id="rId18"/>
    </p:embeddedFont>
  </p:embeddedFontLst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5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67ED25-8163-4300-AD90-E0A26F510627}" type="doc">
      <dgm:prSet loTypeId="urn:microsoft.com/office/officeart/2008/layout/AlternatingHexagons" loCatId="list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endParaRPr lang="es-PA"/>
        </a:p>
      </dgm:t>
    </dgm:pt>
    <dgm:pt modelId="{70A8BC33-A321-4777-A9A3-61DC6BBFFBB1}">
      <dgm:prSet phldrT="[Texto]" custT="1"/>
      <dgm:spPr/>
      <dgm:t>
        <a:bodyPr/>
        <a:lstStyle/>
        <a:p>
          <a:r>
            <a:rPr lang="es-PA" sz="1800" dirty="0" smtClean="0"/>
            <a:t>🔧 Servicios Técnicos</a:t>
          </a:r>
          <a:r>
            <a:rPr lang="es-PA" sz="1400" dirty="0" smtClean="0"/>
            <a:t>:</a:t>
          </a:r>
          <a:endParaRPr lang="es-PA" sz="1400" dirty="0"/>
        </a:p>
      </dgm:t>
    </dgm:pt>
    <dgm:pt modelId="{8ABE47CC-69EF-42DB-9EBE-CE40343FFA73}" type="parTrans" cxnId="{1D3025A5-0A84-46CE-A7D1-1428BE776E53}">
      <dgm:prSet/>
      <dgm:spPr/>
      <dgm:t>
        <a:bodyPr/>
        <a:lstStyle/>
        <a:p>
          <a:endParaRPr lang="es-PA"/>
        </a:p>
      </dgm:t>
    </dgm:pt>
    <dgm:pt modelId="{72D5B0BF-B616-44BA-BBB7-E8DA5EEAA3F3}" type="sibTrans" cxnId="{1D3025A5-0A84-46CE-A7D1-1428BE776E53}">
      <dgm:prSet/>
      <dgm:spPr/>
      <dgm:t>
        <a:bodyPr/>
        <a:lstStyle/>
        <a:p>
          <a:endParaRPr lang="es-PA"/>
        </a:p>
      </dgm:t>
    </dgm:pt>
    <dgm:pt modelId="{57333FA3-68AC-4106-9544-34B285EEEBEB}">
      <dgm:prSet phldrT="[Texto]"/>
      <dgm:spPr/>
      <dgm:t>
        <a:bodyPr/>
        <a:lstStyle/>
        <a:p>
          <a:r>
            <a:rPr lang="es-PA" dirty="0" smtClean="0">
              <a:solidFill>
                <a:schemeClr val="bg1"/>
              </a:solidFill>
            </a:rPr>
            <a:t>Reparación de equipos</a:t>
          </a:r>
          <a:endParaRPr lang="es-PA" dirty="0">
            <a:solidFill>
              <a:schemeClr val="bg1"/>
            </a:solidFill>
          </a:endParaRPr>
        </a:p>
      </dgm:t>
    </dgm:pt>
    <dgm:pt modelId="{4FAC20B5-5372-4CCC-9B00-B52DFE905B96}" type="parTrans" cxnId="{3992ED1E-8572-4695-9386-658CAC0CD972}">
      <dgm:prSet/>
      <dgm:spPr/>
      <dgm:t>
        <a:bodyPr/>
        <a:lstStyle/>
        <a:p>
          <a:endParaRPr lang="es-PA"/>
        </a:p>
      </dgm:t>
    </dgm:pt>
    <dgm:pt modelId="{99F3058F-87F7-4D1D-B894-66286DE4DF6E}" type="sibTrans" cxnId="{3992ED1E-8572-4695-9386-658CAC0CD972}">
      <dgm:prSet/>
      <dgm:spPr/>
      <dgm:t>
        <a:bodyPr/>
        <a:lstStyle/>
        <a:p>
          <a:endParaRPr lang="es-PA"/>
        </a:p>
      </dgm:t>
    </dgm:pt>
    <dgm:pt modelId="{BEF2900B-4A07-47B5-97E5-8879DBD4F9A5}">
      <dgm:prSet phldrT="[Texto]" custT="1"/>
      <dgm:spPr/>
      <dgm:t>
        <a:bodyPr/>
        <a:lstStyle/>
        <a:p>
          <a:r>
            <a:rPr lang="es-MX" sz="1800" dirty="0" smtClean="0"/>
            <a:t>💻 Venta de Hardware y Software</a:t>
          </a:r>
          <a:r>
            <a:rPr lang="es-MX" sz="1400" dirty="0" smtClean="0"/>
            <a:t>:</a:t>
          </a:r>
          <a:endParaRPr lang="es-PA" sz="1400" dirty="0"/>
        </a:p>
      </dgm:t>
    </dgm:pt>
    <dgm:pt modelId="{E9375683-FF9D-49E2-90E9-95E4537D9357}" type="parTrans" cxnId="{90AE2242-6E4C-449F-A3BE-2580F9EBDB7F}">
      <dgm:prSet/>
      <dgm:spPr/>
      <dgm:t>
        <a:bodyPr/>
        <a:lstStyle/>
        <a:p>
          <a:endParaRPr lang="es-PA"/>
        </a:p>
      </dgm:t>
    </dgm:pt>
    <dgm:pt modelId="{CFA7F161-8F66-4AA1-B60E-21E03A275F62}" type="sibTrans" cxnId="{90AE2242-6E4C-449F-A3BE-2580F9EBDB7F}">
      <dgm:prSet/>
      <dgm:spPr/>
      <dgm:t>
        <a:bodyPr/>
        <a:lstStyle/>
        <a:p>
          <a:endParaRPr lang="es-PA"/>
        </a:p>
      </dgm:t>
    </dgm:pt>
    <dgm:pt modelId="{2A699868-A4EC-471A-8896-703DA3444C99}">
      <dgm:prSet phldrT="[Texto]" custT="1"/>
      <dgm:spPr/>
      <dgm:t>
        <a:bodyPr/>
        <a:lstStyle/>
        <a:p>
          <a:r>
            <a:rPr lang="es-PA" sz="1800" dirty="0" smtClean="0"/>
            <a:t>Computadoras, impresoras, monitores</a:t>
          </a:r>
          <a:endParaRPr lang="es-PA" sz="1800" dirty="0"/>
        </a:p>
      </dgm:t>
    </dgm:pt>
    <dgm:pt modelId="{B6CA1C7E-F662-4E1D-B08F-13C7B5AFEA02}" type="parTrans" cxnId="{7A6E4F94-031B-40BF-AEAF-DC5150642468}">
      <dgm:prSet/>
      <dgm:spPr/>
      <dgm:t>
        <a:bodyPr/>
        <a:lstStyle/>
        <a:p>
          <a:endParaRPr lang="es-PA"/>
        </a:p>
      </dgm:t>
    </dgm:pt>
    <dgm:pt modelId="{44CFB5D8-0AB8-4E81-AFE1-1372FDC05835}" type="sibTrans" cxnId="{7A6E4F94-031B-40BF-AEAF-DC5150642468}">
      <dgm:prSet/>
      <dgm:spPr/>
      <dgm:t>
        <a:bodyPr/>
        <a:lstStyle/>
        <a:p>
          <a:endParaRPr lang="es-PA"/>
        </a:p>
      </dgm:t>
    </dgm:pt>
    <dgm:pt modelId="{93111A45-031C-4A9E-AE73-8D1C3CC64D35}">
      <dgm:prSet phldrT="[Texto]"/>
      <dgm:spPr/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Sistemas operativos, antivírus, programas ofimáticos.</a:t>
          </a:r>
          <a:endParaRPr lang="es-PA" dirty="0">
            <a:solidFill>
              <a:schemeClr val="bg1"/>
            </a:solidFill>
          </a:endParaRPr>
        </a:p>
      </dgm:t>
    </dgm:pt>
    <dgm:pt modelId="{23390FC4-AF97-479B-B18F-8DCD9D8F232D}" type="parTrans" cxnId="{7BA035E2-A6AA-4B45-A8F3-D93D84C1C23F}">
      <dgm:prSet/>
      <dgm:spPr/>
      <dgm:t>
        <a:bodyPr/>
        <a:lstStyle/>
        <a:p>
          <a:endParaRPr lang="es-PA"/>
        </a:p>
      </dgm:t>
    </dgm:pt>
    <dgm:pt modelId="{66BABE6F-E147-4C3E-9B79-2AA35F138DA5}" type="sibTrans" cxnId="{7BA035E2-A6AA-4B45-A8F3-D93D84C1C23F}">
      <dgm:prSet/>
      <dgm:spPr/>
      <dgm:t>
        <a:bodyPr/>
        <a:lstStyle/>
        <a:p>
          <a:endParaRPr lang="es-PA"/>
        </a:p>
      </dgm:t>
    </dgm:pt>
    <dgm:pt modelId="{C337B556-DAD3-4A52-BB25-A0132A134AC0}" type="pres">
      <dgm:prSet presAssocID="{D067ED25-8163-4300-AD90-E0A26F510627}" presName="Name0" presStyleCnt="0">
        <dgm:presLayoutVars>
          <dgm:chMax/>
          <dgm:chPref/>
          <dgm:dir/>
          <dgm:animLvl val="lvl"/>
        </dgm:presLayoutVars>
      </dgm:prSet>
      <dgm:spPr/>
    </dgm:pt>
    <dgm:pt modelId="{558ACE70-682A-4BBC-AF9E-48863EB8B77D}" type="pres">
      <dgm:prSet presAssocID="{70A8BC33-A321-4777-A9A3-61DC6BBFFBB1}" presName="composite" presStyleCnt="0"/>
      <dgm:spPr/>
    </dgm:pt>
    <dgm:pt modelId="{73300B9F-F878-431E-AF43-62EE1E13F6CE}" type="pres">
      <dgm:prSet presAssocID="{70A8BC33-A321-4777-A9A3-61DC6BBFFBB1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PA"/>
        </a:p>
      </dgm:t>
    </dgm:pt>
    <dgm:pt modelId="{8462594B-6B0A-4E17-9A77-25713102328E}" type="pres">
      <dgm:prSet presAssocID="{70A8BC33-A321-4777-A9A3-61DC6BBFFBB1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PA"/>
        </a:p>
      </dgm:t>
    </dgm:pt>
    <dgm:pt modelId="{DFFA5AAE-EB79-4673-820A-6125760168E1}" type="pres">
      <dgm:prSet presAssocID="{70A8BC33-A321-4777-A9A3-61DC6BBFFBB1}" presName="BalanceSpacing" presStyleCnt="0"/>
      <dgm:spPr/>
    </dgm:pt>
    <dgm:pt modelId="{53053C0E-9D81-434B-84C0-35D1F2D29487}" type="pres">
      <dgm:prSet presAssocID="{70A8BC33-A321-4777-A9A3-61DC6BBFFBB1}" presName="BalanceSpacing1" presStyleCnt="0"/>
      <dgm:spPr/>
    </dgm:pt>
    <dgm:pt modelId="{65042E78-DA9A-4779-89E4-BB9BA6DE6388}" type="pres">
      <dgm:prSet presAssocID="{72D5B0BF-B616-44BA-BBB7-E8DA5EEAA3F3}" presName="Accent1Text" presStyleLbl="node1" presStyleIdx="1" presStyleCnt="6" custLinFactNeighborY="0"/>
      <dgm:spPr/>
    </dgm:pt>
    <dgm:pt modelId="{CE1044D2-E4CC-4FD5-8C00-191CE050545F}" type="pres">
      <dgm:prSet presAssocID="{72D5B0BF-B616-44BA-BBB7-E8DA5EEAA3F3}" presName="spaceBetweenRectangles" presStyleCnt="0"/>
      <dgm:spPr/>
    </dgm:pt>
    <dgm:pt modelId="{195F2F92-85F2-449D-8FD9-C6F3499FB721}" type="pres">
      <dgm:prSet presAssocID="{BEF2900B-4A07-47B5-97E5-8879DBD4F9A5}" presName="composite" presStyleCnt="0"/>
      <dgm:spPr/>
    </dgm:pt>
    <dgm:pt modelId="{6AC181FE-165C-418E-A2C3-F8A9C46308B4}" type="pres">
      <dgm:prSet presAssocID="{BEF2900B-4A07-47B5-97E5-8879DBD4F9A5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PA"/>
        </a:p>
      </dgm:t>
    </dgm:pt>
    <dgm:pt modelId="{895C6A98-5C89-46EE-8C1B-141FF3122CF3}" type="pres">
      <dgm:prSet presAssocID="{BEF2900B-4A07-47B5-97E5-8879DBD4F9A5}" presName="Childtext1" presStyleLbl="revTx" presStyleIdx="1" presStyleCnt="3" custLinFactNeighborX="6417" custLinFactNeighborY="-2164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PA"/>
        </a:p>
      </dgm:t>
    </dgm:pt>
    <dgm:pt modelId="{5B0C0E94-8DB5-4DC3-AEAF-CDA8CF0E949A}" type="pres">
      <dgm:prSet presAssocID="{BEF2900B-4A07-47B5-97E5-8879DBD4F9A5}" presName="BalanceSpacing" presStyleCnt="0"/>
      <dgm:spPr/>
    </dgm:pt>
    <dgm:pt modelId="{25FD5005-A13E-4122-925A-03AA668DF006}" type="pres">
      <dgm:prSet presAssocID="{BEF2900B-4A07-47B5-97E5-8879DBD4F9A5}" presName="BalanceSpacing1" presStyleCnt="0"/>
      <dgm:spPr/>
    </dgm:pt>
    <dgm:pt modelId="{86E50671-5CB0-4BFD-AC1D-1F803CC314F8}" type="pres">
      <dgm:prSet presAssocID="{CFA7F161-8F66-4AA1-B60E-21E03A275F62}" presName="Accent1Text" presStyleLbl="node1" presStyleIdx="3" presStyleCnt="6"/>
      <dgm:spPr/>
    </dgm:pt>
    <dgm:pt modelId="{0690307B-9D28-48B2-9D49-D98ACB0E2101}" type="pres">
      <dgm:prSet presAssocID="{CFA7F161-8F66-4AA1-B60E-21E03A275F62}" presName="spaceBetweenRectangles" presStyleCnt="0"/>
      <dgm:spPr/>
    </dgm:pt>
    <dgm:pt modelId="{1DD90AC9-B1DF-4A23-8DCC-52145BB608D5}" type="pres">
      <dgm:prSet presAssocID="{2A699868-A4EC-471A-8896-703DA3444C99}" presName="composite" presStyleCnt="0"/>
      <dgm:spPr/>
    </dgm:pt>
    <dgm:pt modelId="{C86C93F1-7D0A-467D-8012-4D6798AAB58B}" type="pres">
      <dgm:prSet presAssocID="{2A699868-A4EC-471A-8896-703DA3444C99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PA"/>
        </a:p>
      </dgm:t>
    </dgm:pt>
    <dgm:pt modelId="{DF9C53E9-E4D9-404E-8194-38BC5F9825EC}" type="pres">
      <dgm:prSet presAssocID="{2A699868-A4EC-471A-8896-703DA3444C99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PA"/>
        </a:p>
      </dgm:t>
    </dgm:pt>
    <dgm:pt modelId="{636F61A2-CF5D-4E92-A200-31EB24097368}" type="pres">
      <dgm:prSet presAssocID="{2A699868-A4EC-471A-8896-703DA3444C99}" presName="BalanceSpacing" presStyleCnt="0"/>
      <dgm:spPr/>
    </dgm:pt>
    <dgm:pt modelId="{ED275B45-1B0A-4B08-A9A4-3649C45C82EA}" type="pres">
      <dgm:prSet presAssocID="{2A699868-A4EC-471A-8896-703DA3444C99}" presName="BalanceSpacing1" presStyleCnt="0"/>
      <dgm:spPr/>
    </dgm:pt>
    <dgm:pt modelId="{FC42F72E-E7F8-4A32-B345-C0B188528E68}" type="pres">
      <dgm:prSet presAssocID="{44CFB5D8-0AB8-4E81-AFE1-1372FDC05835}" presName="Accent1Text" presStyleLbl="node1" presStyleIdx="5" presStyleCnt="6" custLinFactNeighborY="0"/>
      <dgm:spPr/>
    </dgm:pt>
  </dgm:ptLst>
  <dgm:cxnLst>
    <dgm:cxn modelId="{FB1E8BC1-2F3B-435E-9119-8DFEBE353866}" type="presOf" srcId="{44CFB5D8-0AB8-4E81-AFE1-1372FDC05835}" destId="{FC42F72E-E7F8-4A32-B345-C0B188528E68}" srcOrd="0" destOrd="0" presId="urn:microsoft.com/office/officeart/2008/layout/AlternatingHexagons"/>
    <dgm:cxn modelId="{1D3025A5-0A84-46CE-A7D1-1428BE776E53}" srcId="{D067ED25-8163-4300-AD90-E0A26F510627}" destId="{70A8BC33-A321-4777-A9A3-61DC6BBFFBB1}" srcOrd="0" destOrd="0" parTransId="{8ABE47CC-69EF-42DB-9EBE-CE40343FFA73}" sibTransId="{72D5B0BF-B616-44BA-BBB7-E8DA5EEAA3F3}"/>
    <dgm:cxn modelId="{7A6E4F94-031B-40BF-AEAF-DC5150642468}" srcId="{D067ED25-8163-4300-AD90-E0A26F510627}" destId="{2A699868-A4EC-471A-8896-703DA3444C99}" srcOrd="2" destOrd="0" parTransId="{B6CA1C7E-F662-4E1D-B08F-13C7B5AFEA02}" sibTransId="{44CFB5D8-0AB8-4E81-AFE1-1372FDC05835}"/>
    <dgm:cxn modelId="{90AE2242-6E4C-449F-A3BE-2580F9EBDB7F}" srcId="{D067ED25-8163-4300-AD90-E0A26F510627}" destId="{BEF2900B-4A07-47B5-97E5-8879DBD4F9A5}" srcOrd="1" destOrd="0" parTransId="{E9375683-FF9D-49E2-90E9-95E4537D9357}" sibTransId="{CFA7F161-8F66-4AA1-B60E-21E03A275F62}"/>
    <dgm:cxn modelId="{A42ED413-3A5A-4C83-93A8-009321DDCCDB}" type="presOf" srcId="{D067ED25-8163-4300-AD90-E0A26F510627}" destId="{C337B556-DAD3-4A52-BB25-A0132A134AC0}" srcOrd="0" destOrd="0" presId="urn:microsoft.com/office/officeart/2008/layout/AlternatingHexagons"/>
    <dgm:cxn modelId="{45059B01-506A-4E44-89AF-D4ED1B72F35A}" type="presOf" srcId="{57333FA3-68AC-4106-9544-34B285EEEBEB}" destId="{8462594B-6B0A-4E17-9A77-25713102328E}" srcOrd="0" destOrd="0" presId="urn:microsoft.com/office/officeart/2008/layout/AlternatingHexagons"/>
    <dgm:cxn modelId="{6A1355E7-D7F3-436E-A5A2-5346B40AF77F}" type="presOf" srcId="{93111A45-031C-4A9E-AE73-8D1C3CC64D35}" destId="{DF9C53E9-E4D9-404E-8194-38BC5F9825EC}" srcOrd="0" destOrd="0" presId="urn:microsoft.com/office/officeart/2008/layout/AlternatingHexagons"/>
    <dgm:cxn modelId="{E9639BA6-16D7-4622-A1BC-4D1E66ED4C40}" type="presOf" srcId="{2A699868-A4EC-471A-8896-703DA3444C99}" destId="{C86C93F1-7D0A-467D-8012-4D6798AAB58B}" srcOrd="0" destOrd="0" presId="urn:microsoft.com/office/officeart/2008/layout/AlternatingHexagons"/>
    <dgm:cxn modelId="{3992ED1E-8572-4695-9386-658CAC0CD972}" srcId="{70A8BC33-A321-4777-A9A3-61DC6BBFFBB1}" destId="{57333FA3-68AC-4106-9544-34B285EEEBEB}" srcOrd="0" destOrd="0" parTransId="{4FAC20B5-5372-4CCC-9B00-B52DFE905B96}" sibTransId="{99F3058F-87F7-4D1D-B894-66286DE4DF6E}"/>
    <dgm:cxn modelId="{F4D3A02A-A01A-411F-AE17-684972EA4C46}" type="presOf" srcId="{72D5B0BF-B616-44BA-BBB7-E8DA5EEAA3F3}" destId="{65042E78-DA9A-4779-89E4-BB9BA6DE6388}" srcOrd="0" destOrd="0" presId="urn:microsoft.com/office/officeart/2008/layout/AlternatingHexagons"/>
    <dgm:cxn modelId="{7BA035E2-A6AA-4B45-A8F3-D93D84C1C23F}" srcId="{2A699868-A4EC-471A-8896-703DA3444C99}" destId="{93111A45-031C-4A9E-AE73-8D1C3CC64D35}" srcOrd="0" destOrd="0" parTransId="{23390FC4-AF97-479B-B18F-8DCD9D8F232D}" sibTransId="{66BABE6F-E147-4C3E-9B79-2AA35F138DA5}"/>
    <dgm:cxn modelId="{93DC5823-61DF-4008-BE23-1C1B6D0E7B10}" type="presOf" srcId="{CFA7F161-8F66-4AA1-B60E-21E03A275F62}" destId="{86E50671-5CB0-4BFD-AC1D-1F803CC314F8}" srcOrd="0" destOrd="0" presId="urn:microsoft.com/office/officeart/2008/layout/AlternatingHexagons"/>
    <dgm:cxn modelId="{78E8AEF8-C2DD-4124-B5F8-D026FC1E92B3}" type="presOf" srcId="{70A8BC33-A321-4777-A9A3-61DC6BBFFBB1}" destId="{73300B9F-F878-431E-AF43-62EE1E13F6CE}" srcOrd="0" destOrd="0" presId="urn:microsoft.com/office/officeart/2008/layout/AlternatingHexagons"/>
    <dgm:cxn modelId="{273E63AD-2C75-4C70-81B0-DF5C0A7793B9}" type="presOf" srcId="{BEF2900B-4A07-47B5-97E5-8879DBD4F9A5}" destId="{6AC181FE-165C-418E-A2C3-F8A9C46308B4}" srcOrd="0" destOrd="0" presId="urn:microsoft.com/office/officeart/2008/layout/AlternatingHexagons"/>
    <dgm:cxn modelId="{79F6BAE6-5DB0-4599-9827-B8730DE22B0F}" type="presParOf" srcId="{C337B556-DAD3-4A52-BB25-A0132A134AC0}" destId="{558ACE70-682A-4BBC-AF9E-48863EB8B77D}" srcOrd="0" destOrd="0" presId="urn:microsoft.com/office/officeart/2008/layout/AlternatingHexagons"/>
    <dgm:cxn modelId="{FE6A8503-C086-4ECD-A28F-5E849B5D92E9}" type="presParOf" srcId="{558ACE70-682A-4BBC-AF9E-48863EB8B77D}" destId="{73300B9F-F878-431E-AF43-62EE1E13F6CE}" srcOrd="0" destOrd="0" presId="urn:microsoft.com/office/officeart/2008/layout/AlternatingHexagons"/>
    <dgm:cxn modelId="{DC164E11-4ECF-4320-868E-033344F20E2C}" type="presParOf" srcId="{558ACE70-682A-4BBC-AF9E-48863EB8B77D}" destId="{8462594B-6B0A-4E17-9A77-25713102328E}" srcOrd="1" destOrd="0" presId="urn:microsoft.com/office/officeart/2008/layout/AlternatingHexagons"/>
    <dgm:cxn modelId="{4797B113-7A3F-4924-9F6B-86F5154365D0}" type="presParOf" srcId="{558ACE70-682A-4BBC-AF9E-48863EB8B77D}" destId="{DFFA5AAE-EB79-4673-820A-6125760168E1}" srcOrd="2" destOrd="0" presId="urn:microsoft.com/office/officeart/2008/layout/AlternatingHexagons"/>
    <dgm:cxn modelId="{7C738222-740E-427D-BED1-6F5410C44527}" type="presParOf" srcId="{558ACE70-682A-4BBC-AF9E-48863EB8B77D}" destId="{53053C0E-9D81-434B-84C0-35D1F2D29487}" srcOrd="3" destOrd="0" presId="urn:microsoft.com/office/officeart/2008/layout/AlternatingHexagons"/>
    <dgm:cxn modelId="{38502FA5-69EE-48C7-A81F-93FD3844ED2D}" type="presParOf" srcId="{558ACE70-682A-4BBC-AF9E-48863EB8B77D}" destId="{65042E78-DA9A-4779-89E4-BB9BA6DE6388}" srcOrd="4" destOrd="0" presId="urn:microsoft.com/office/officeart/2008/layout/AlternatingHexagons"/>
    <dgm:cxn modelId="{8108B25E-900C-474B-AF7D-C11628B1FD66}" type="presParOf" srcId="{C337B556-DAD3-4A52-BB25-A0132A134AC0}" destId="{CE1044D2-E4CC-4FD5-8C00-191CE050545F}" srcOrd="1" destOrd="0" presId="urn:microsoft.com/office/officeart/2008/layout/AlternatingHexagons"/>
    <dgm:cxn modelId="{1BAAB585-F83A-4F9A-A112-6701D8CFED76}" type="presParOf" srcId="{C337B556-DAD3-4A52-BB25-A0132A134AC0}" destId="{195F2F92-85F2-449D-8FD9-C6F3499FB721}" srcOrd="2" destOrd="0" presId="urn:microsoft.com/office/officeart/2008/layout/AlternatingHexagons"/>
    <dgm:cxn modelId="{A035E914-36F8-4F54-B134-677291C53746}" type="presParOf" srcId="{195F2F92-85F2-449D-8FD9-C6F3499FB721}" destId="{6AC181FE-165C-418E-A2C3-F8A9C46308B4}" srcOrd="0" destOrd="0" presId="urn:microsoft.com/office/officeart/2008/layout/AlternatingHexagons"/>
    <dgm:cxn modelId="{907ACFD7-8B2E-47CE-8529-92500387B60A}" type="presParOf" srcId="{195F2F92-85F2-449D-8FD9-C6F3499FB721}" destId="{895C6A98-5C89-46EE-8C1B-141FF3122CF3}" srcOrd="1" destOrd="0" presId="urn:microsoft.com/office/officeart/2008/layout/AlternatingHexagons"/>
    <dgm:cxn modelId="{270F109D-BCDF-4AD0-85D9-EF95FF2F0669}" type="presParOf" srcId="{195F2F92-85F2-449D-8FD9-C6F3499FB721}" destId="{5B0C0E94-8DB5-4DC3-AEAF-CDA8CF0E949A}" srcOrd="2" destOrd="0" presId="urn:microsoft.com/office/officeart/2008/layout/AlternatingHexagons"/>
    <dgm:cxn modelId="{B4542172-E623-40ED-A684-EDA0ACBB3507}" type="presParOf" srcId="{195F2F92-85F2-449D-8FD9-C6F3499FB721}" destId="{25FD5005-A13E-4122-925A-03AA668DF006}" srcOrd="3" destOrd="0" presId="urn:microsoft.com/office/officeart/2008/layout/AlternatingHexagons"/>
    <dgm:cxn modelId="{1F3E4087-17E1-4AAC-8593-84FB0C304327}" type="presParOf" srcId="{195F2F92-85F2-449D-8FD9-C6F3499FB721}" destId="{86E50671-5CB0-4BFD-AC1D-1F803CC314F8}" srcOrd="4" destOrd="0" presId="urn:microsoft.com/office/officeart/2008/layout/AlternatingHexagons"/>
    <dgm:cxn modelId="{AD7C51BD-4748-4301-9F25-78C4376F3AAD}" type="presParOf" srcId="{C337B556-DAD3-4A52-BB25-A0132A134AC0}" destId="{0690307B-9D28-48B2-9D49-D98ACB0E2101}" srcOrd="3" destOrd="0" presId="urn:microsoft.com/office/officeart/2008/layout/AlternatingHexagons"/>
    <dgm:cxn modelId="{B34439DE-156C-440A-806C-F4D47DE08FBE}" type="presParOf" srcId="{C337B556-DAD3-4A52-BB25-A0132A134AC0}" destId="{1DD90AC9-B1DF-4A23-8DCC-52145BB608D5}" srcOrd="4" destOrd="0" presId="urn:microsoft.com/office/officeart/2008/layout/AlternatingHexagons"/>
    <dgm:cxn modelId="{9C3A7FA4-6FE5-4D77-B823-57D7CFD500B2}" type="presParOf" srcId="{1DD90AC9-B1DF-4A23-8DCC-52145BB608D5}" destId="{C86C93F1-7D0A-467D-8012-4D6798AAB58B}" srcOrd="0" destOrd="0" presId="urn:microsoft.com/office/officeart/2008/layout/AlternatingHexagons"/>
    <dgm:cxn modelId="{0F808C6C-4820-475E-9B96-7358EDFAC7E1}" type="presParOf" srcId="{1DD90AC9-B1DF-4A23-8DCC-52145BB608D5}" destId="{DF9C53E9-E4D9-404E-8194-38BC5F9825EC}" srcOrd="1" destOrd="0" presId="urn:microsoft.com/office/officeart/2008/layout/AlternatingHexagons"/>
    <dgm:cxn modelId="{5F379371-F2E3-4608-9AB9-C9790617AC3C}" type="presParOf" srcId="{1DD90AC9-B1DF-4A23-8DCC-52145BB608D5}" destId="{636F61A2-CF5D-4E92-A200-31EB24097368}" srcOrd="2" destOrd="0" presId="urn:microsoft.com/office/officeart/2008/layout/AlternatingHexagons"/>
    <dgm:cxn modelId="{BDF2E1C8-D1D1-47E5-A719-C928FFAC623E}" type="presParOf" srcId="{1DD90AC9-B1DF-4A23-8DCC-52145BB608D5}" destId="{ED275B45-1B0A-4B08-A9A4-3649C45C82EA}" srcOrd="3" destOrd="0" presId="urn:microsoft.com/office/officeart/2008/layout/AlternatingHexagons"/>
    <dgm:cxn modelId="{CF1CFB31-32C4-435B-85A1-E7A75ED7CEEE}" type="presParOf" srcId="{1DD90AC9-B1DF-4A23-8DCC-52145BB608D5}" destId="{FC42F72E-E7F8-4A32-B345-C0B188528E68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300B9F-F878-431E-AF43-62EE1E13F6CE}">
      <dsp:nvSpPr>
        <dsp:cNvPr id="0" name=""/>
        <dsp:cNvSpPr/>
      </dsp:nvSpPr>
      <dsp:spPr>
        <a:xfrm rot="5400000">
          <a:off x="3918226" y="139609"/>
          <a:ext cx="2139325" cy="186121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A" sz="1800" kern="1200" dirty="0" smtClean="0"/>
            <a:t>🔧 Servicios Técnicos</a:t>
          </a:r>
          <a:r>
            <a:rPr lang="es-PA" sz="1400" kern="1200" dirty="0" smtClean="0"/>
            <a:t>:</a:t>
          </a:r>
          <a:endParaRPr lang="es-PA" sz="1400" kern="1200" dirty="0"/>
        </a:p>
      </dsp:txBody>
      <dsp:txXfrm rot="-5400000">
        <a:off x="4347321" y="333931"/>
        <a:ext cx="1281134" cy="1472569"/>
      </dsp:txXfrm>
    </dsp:sp>
    <dsp:sp modelId="{8462594B-6B0A-4E17-9A77-25713102328E}">
      <dsp:nvSpPr>
        <dsp:cNvPr id="0" name=""/>
        <dsp:cNvSpPr/>
      </dsp:nvSpPr>
      <dsp:spPr>
        <a:xfrm>
          <a:off x="5974973" y="428418"/>
          <a:ext cx="2387486" cy="1283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A" sz="2100" kern="1200" dirty="0" smtClean="0">
              <a:solidFill>
                <a:schemeClr val="bg1"/>
              </a:solidFill>
            </a:rPr>
            <a:t>Reparación de equipos</a:t>
          </a:r>
          <a:endParaRPr lang="es-PA" sz="2100" kern="1200" dirty="0">
            <a:solidFill>
              <a:schemeClr val="bg1"/>
            </a:solidFill>
          </a:endParaRPr>
        </a:p>
      </dsp:txBody>
      <dsp:txXfrm>
        <a:off x="5974973" y="428418"/>
        <a:ext cx="2387486" cy="1283595"/>
      </dsp:txXfrm>
    </dsp:sp>
    <dsp:sp modelId="{65042E78-DA9A-4779-89E4-BB9BA6DE6388}">
      <dsp:nvSpPr>
        <dsp:cNvPr id="0" name=""/>
        <dsp:cNvSpPr/>
      </dsp:nvSpPr>
      <dsp:spPr>
        <a:xfrm rot="5400000">
          <a:off x="1908116" y="139609"/>
          <a:ext cx="2139325" cy="186121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A" sz="3600" kern="1200"/>
        </a:p>
      </dsp:txBody>
      <dsp:txXfrm rot="-5400000">
        <a:off x="2337211" y="333931"/>
        <a:ext cx="1281134" cy="1472569"/>
      </dsp:txXfrm>
    </dsp:sp>
    <dsp:sp modelId="{6AC181FE-165C-418E-A2C3-F8A9C46308B4}">
      <dsp:nvSpPr>
        <dsp:cNvPr id="0" name=""/>
        <dsp:cNvSpPr/>
      </dsp:nvSpPr>
      <dsp:spPr>
        <a:xfrm rot="5400000">
          <a:off x="2909320" y="1955468"/>
          <a:ext cx="2139325" cy="186121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 smtClean="0"/>
            <a:t>💻 Venta de Hardware y Software</a:t>
          </a:r>
          <a:r>
            <a:rPr lang="es-MX" sz="1400" kern="1200" dirty="0" smtClean="0"/>
            <a:t>:</a:t>
          </a:r>
          <a:endParaRPr lang="es-PA" sz="1400" kern="1200" dirty="0"/>
        </a:p>
      </dsp:txBody>
      <dsp:txXfrm rot="-5400000">
        <a:off x="3338415" y="2149790"/>
        <a:ext cx="1281134" cy="1472569"/>
      </dsp:txXfrm>
    </dsp:sp>
    <dsp:sp modelId="{895C6A98-5C89-46EE-8C1B-141FF3122CF3}">
      <dsp:nvSpPr>
        <dsp:cNvPr id="0" name=""/>
        <dsp:cNvSpPr/>
      </dsp:nvSpPr>
      <dsp:spPr>
        <a:xfrm>
          <a:off x="809152" y="1966481"/>
          <a:ext cx="2310471" cy="1283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E50671-5CB0-4BFD-AC1D-1F803CC314F8}">
      <dsp:nvSpPr>
        <dsp:cNvPr id="0" name=""/>
        <dsp:cNvSpPr/>
      </dsp:nvSpPr>
      <dsp:spPr>
        <a:xfrm rot="5400000">
          <a:off x="4919430" y="1955468"/>
          <a:ext cx="2139325" cy="186121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A" sz="3600" kern="1200"/>
        </a:p>
      </dsp:txBody>
      <dsp:txXfrm rot="-5400000">
        <a:off x="5348525" y="2149790"/>
        <a:ext cx="1281134" cy="1472569"/>
      </dsp:txXfrm>
    </dsp:sp>
    <dsp:sp modelId="{C86C93F1-7D0A-467D-8012-4D6798AAB58B}">
      <dsp:nvSpPr>
        <dsp:cNvPr id="0" name=""/>
        <dsp:cNvSpPr/>
      </dsp:nvSpPr>
      <dsp:spPr>
        <a:xfrm rot="5400000">
          <a:off x="3918226" y="3771327"/>
          <a:ext cx="2139325" cy="186121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A" sz="1800" kern="1200" dirty="0" smtClean="0"/>
            <a:t>Computadoras, impresoras, monitores</a:t>
          </a:r>
          <a:endParaRPr lang="es-PA" sz="1800" kern="1200" dirty="0"/>
        </a:p>
      </dsp:txBody>
      <dsp:txXfrm rot="-5400000">
        <a:off x="4347321" y="3965649"/>
        <a:ext cx="1281134" cy="1472569"/>
      </dsp:txXfrm>
    </dsp:sp>
    <dsp:sp modelId="{DF9C53E9-E4D9-404E-8194-38BC5F9825EC}">
      <dsp:nvSpPr>
        <dsp:cNvPr id="0" name=""/>
        <dsp:cNvSpPr/>
      </dsp:nvSpPr>
      <dsp:spPr>
        <a:xfrm>
          <a:off x="5974973" y="4060136"/>
          <a:ext cx="2387486" cy="1283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100" kern="1200" dirty="0" smtClean="0">
              <a:solidFill>
                <a:schemeClr val="bg1"/>
              </a:solidFill>
            </a:rPr>
            <a:t>Sistemas operativos, antivírus, programas ofimáticos.</a:t>
          </a:r>
          <a:endParaRPr lang="es-PA" sz="2100" kern="1200" dirty="0">
            <a:solidFill>
              <a:schemeClr val="bg1"/>
            </a:solidFill>
          </a:endParaRPr>
        </a:p>
      </dsp:txBody>
      <dsp:txXfrm>
        <a:off x="5974973" y="4060136"/>
        <a:ext cx="2387486" cy="1283595"/>
      </dsp:txXfrm>
    </dsp:sp>
    <dsp:sp modelId="{FC42F72E-E7F8-4A32-B345-C0B188528E68}">
      <dsp:nvSpPr>
        <dsp:cNvPr id="0" name=""/>
        <dsp:cNvSpPr/>
      </dsp:nvSpPr>
      <dsp:spPr>
        <a:xfrm rot="5400000">
          <a:off x="1908116" y="3771327"/>
          <a:ext cx="2139325" cy="186121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A" sz="3600" kern="1200"/>
        </a:p>
      </dsp:txBody>
      <dsp:txXfrm rot="-5400000">
        <a:off x="2337211" y="3965649"/>
        <a:ext cx="1281134" cy="14725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28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75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chemeClr val="bg1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321862" y="2418636"/>
            <a:ext cx="7473077" cy="229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9" name="Rectángulo 8"/>
          <p:cNvSpPr/>
          <p:nvPr/>
        </p:nvSpPr>
        <p:spPr>
          <a:xfrm>
            <a:off x="6346536" y="634532"/>
            <a:ext cx="7315200" cy="717119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MX" sz="2800" dirty="0" smtClean="0">
                <a:solidFill>
                  <a:schemeClr val="bg1"/>
                </a:solidFill>
              </a:rPr>
              <a:t>Universidad de Panamá.</a:t>
            </a:r>
          </a:p>
          <a:p>
            <a:pPr algn="ctr"/>
            <a:r>
              <a:rPr lang="es-MX" sz="2400" dirty="0" smtClean="0">
                <a:solidFill>
                  <a:schemeClr val="bg1"/>
                </a:solidFill>
              </a:rPr>
              <a:t>Centro </a:t>
            </a:r>
            <a:r>
              <a:rPr lang="es-MX" sz="2400" dirty="0" smtClean="0"/>
              <a:t>Regional Universitario de Panamá Oeste.</a:t>
            </a:r>
          </a:p>
          <a:p>
            <a:pPr algn="ctr"/>
            <a:r>
              <a:rPr lang="es-MX" sz="2400" dirty="0" smtClean="0"/>
              <a:t>Facultad de Informática, Electrónica y Comunicación.</a:t>
            </a:r>
          </a:p>
          <a:p>
            <a:pPr algn="ctr"/>
            <a:endParaRPr lang="es-MX" sz="2400" dirty="0" smtClean="0"/>
          </a:p>
          <a:p>
            <a:pPr algn="ctr"/>
            <a:r>
              <a:rPr lang="es-MX" sz="2400" dirty="0" smtClean="0"/>
              <a:t>Licenciatura en Informática para la Gestión Educativa y Empresarial.</a:t>
            </a:r>
          </a:p>
          <a:p>
            <a:pPr algn="ctr"/>
            <a:r>
              <a:rPr lang="es-MX" sz="2400" dirty="0" smtClean="0"/>
              <a:t>Asignatura</a:t>
            </a:r>
          </a:p>
          <a:p>
            <a:pPr algn="ctr"/>
            <a:endParaRPr lang="es-MX" sz="2400" dirty="0" smtClean="0"/>
          </a:p>
          <a:p>
            <a:pPr algn="ctr"/>
            <a:r>
              <a:rPr lang="es-MX" sz="2400" dirty="0" smtClean="0"/>
              <a:t>Desarrollo de Emprendedores</a:t>
            </a:r>
          </a:p>
          <a:p>
            <a:pPr algn="ctr"/>
            <a:r>
              <a:rPr lang="es-MX" sz="2400" dirty="0" smtClean="0"/>
              <a:t>Estudiante</a:t>
            </a:r>
          </a:p>
          <a:p>
            <a:pPr algn="ctr"/>
            <a:r>
              <a:rPr lang="es-MX" sz="2400" dirty="0" smtClean="0"/>
              <a:t>Felipe Pinto</a:t>
            </a:r>
          </a:p>
          <a:p>
            <a:pPr algn="ctr"/>
            <a:r>
              <a:rPr lang="es-MX" sz="2400" dirty="0" smtClean="0"/>
              <a:t>1-716-1170</a:t>
            </a:r>
          </a:p>
          <a:p>
            <a:pPr algn="ctr"/>
            <a:endParaRPr lang="es-MX" sz="2400" dirty="0" smtClean="0"/>
          </a:p>
          <a:p>
            <a:pPr algn="ctr"/>
            <a:r>
              <a:rPr lang="es-MX" sz="2400" dirty="0" smtClean="0"/>
              <a:t>Profesora</a:t>
            </a:r>
          </a:p>
          <a:p>
            <a:pPr algn="ctr"/>
            <a:r>
              <a:rPr lang="es-MX" sz="2400" dirty="0" err="1" smtClean="0"/>
              <a:t>Exenia</a:t>
            </a:r>
            <a:r>
              <a:rPr lang="es-MX" sz="2400" dirty="0" smtClean="0"/>
              <a:t> Guerra</a:t>
            </a:r>
          </a:p>
          <a:p>
            <a:pPr algn="ctr"/>
            <a:r>
              <a:rPr lang="es-MX" sz="2400" dirty="0" smtClean="0"/>
              <a:t>Asignación</a:t>
            </a:r>
          </a:p>
          <a:p>
            <a:pPr algn="ctr"/>
            <a:r>
              <a:rPr lang="es-MX" sz="2400" dirty="0" smtClean="0"/>
              <a:t>Trabajo de Investigación</a:t>
            </a:r>
          </a:p>
          <a:p>
            <a:pPr algn="ctr"/>
            <a:endParaRPr lang="es-MX" sz="2400" dirty="0" smtClean="0"/>
          </a:p>
          <a:p>
            <a:pPr algn="ctr"/>
            <a:r>
              <a:rPr lang="es-MX" sz="2400" dirty="0" smtClean="0"/>
              <a:t>Mayo 13/05/2025</a:t>
            </a:r>
            <a:endParaRPr lang="es-MX" sz="24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5023" y="402067"/>
            <a:ext cx="999831" cy="762066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762" y="208569"/>
            <a:ext cx="2237141" cy="1149062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35"/>
            <a:ext cx="5688744" cy="82296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4556" y="7145055"/>
            <a:ext cx="1321342" cy="132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4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1862" y="656393"/>
            <a:ext cx="7191771" cy="121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endParaRPr lang="en-US" sz="4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802947" y="730771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A" dirty="0" smtClean="0">
                <a:solidFill>
                  <a:schemeClr val="bg1"/>
                </a:solidFill>
              </a:rPr>
              <a:t>Introducción</a:t>
            </a:r>
            <a:endParaRPr lang="es-PA" dirty="0">
              <a:solidFill>
                <a:schemeClr val="bg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802947" y="234221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MX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¿Qué es JP </a:t>
            </a:r>
            <a:r>
              <a:rPr kumimoji="0" lang="es-MX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Tech</a:t>
            </a:r>
            <a:r>
              <a:rPr kumimoji="0" lang="es-MX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s-MX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Solutions</a:t>
            </a:r>
            <a:r>
              <a:rPr kumimoji="0" lang="es-MX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MX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Empresa dedicada al soporte técnico, mantenimiento de redes y venta de hardware y software en la provincia de Panamá Oeste.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s-MX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MX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Objetivo del Trabajo: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MX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Analizar su estructura, servicios, estrategias de marketing y oportunidades de mejora para apoyar su crecimiento como emprendimiento tecnológico local.</a:t>
            </a:r>
            <a:endParaRPr kumimoji="0" lang="es-MX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3019" y="6870050"/>
            <a:ext cx="1648917" cy="164891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8738"/>
            <a:ext cx="6702950" cy="82465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A" dirty="0" smtClean="0">
                <a:solidFill>
                  <a:schemeClr val="bg1"/>
                </a:solidFill>
              </a:rPr>
              <a:t>Misión y Visión</a:t>
            </a:r>
            <a:endParaRPr lang="es-PA" dirty="0">
              <a:solidFill>
                <a:schemeClr val="bg1"/>
              </a:solidFill>
            </a:endParaRP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457200" y="1851818"/>
            <a:ext cx="8229600" cy="45259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s-MX" dirty="0" smtClean="0">
                <a:solidFill>
                  <a:schemeClr val="bg1"/>
                </a:solidFill>
              </a:rPr>
              <a:t>Misión: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 smtClean="0">
                <a:solidFill>
                  <a:schemeClr val="bg1"/>
                </a:solidFill>
              </a:rPr>
              <a:t>"Proporcionar soluciones tecnológicas integrales a pequeñas y medianas empresas, garantizando soporte técnico eficiente, productos de calidad y atención personalizada".</a:t>
            </a:r>
          </a:p>
          <a:p>
            <a:pPr>
              <a:buFont typeface="Wingdings" panose="05000000000000000000" pitchFamily="2" charset="2"/>
              <a:buChar char="Ø"/>
            </a:pPr>
            <a:endParaRPr lang="es-MX" dirty="0" smtClean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dirty="0" smtClean="0">
                <a:solidFill>
                  <a:schemeClr val="bg1"/>
                </a:solidFill>
              </a:rPr>
              <a:t>Visión: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 smtClean="0">
                <a:solidFill>
                  <a:schemeClr val="bg1"/>
                </a:solidFill>
              </a:rPr>
              <a:t>"Ser una empresa líder en servicios tecnológicos en Panamá Oeste, reconocida por su innovación, profesionalismo y compromiso con el cliente".</a:t>
            </a:r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918" y="0"/>
            <a:ext cx="6123482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n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2" y="0"/>
            <a:ext cx="6921638" cy="8229600"/>
          </a:xfrm>
          <a:prstGeom prst="rect">
            <a:avLst/>
          </a:prstGeom>
        </p:spPr>
      </p:pic>
      <p:sp>
        <p:nvSpPr>
          <p:cNvPr id="21" name="Title 1"/>
          <p:cNvSpPr txBox="1">
            <a:spLocks/>
          </p:cNvSpPr>
          <p:nvPr/>
        </p:nvSpPr>
        <p:spPr>
          <a:xfrm>
            <a:off x="-762000" y="30644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A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Productos y Servicios</a:t>
            </a:r>
            <a:endParaRPr kumimoji="0" lang="es-PA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graphicFrame>
        <p:nvGraphicFramePr>
          <p:cNvPr id="49" name="Diagrama 48"/>
          <p:cNvGraphicFramePr/>
          <p:nvPr>
            <p:extLst>
              <p:ext uri="{D42A27DB-BD31-4B8C-83A1-F6EECF244321}">
                <p14:modId xmlns:p14="http://schemas.microsoft.com/office/powerpoint/2010/main" val="2820462602"/>
              </p:ext>
            </p:extLst>
          </p:nvPr>
        </p:nvGraphicFramePr>
        <p:xfrm>
          <a:off x="5518150" y="1250950"/>
          <a:ext cx="9023350" cy="5772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1" name="CuadroTexto 50"/>
          <p:cNvSpPr txBox="1"/>
          <p:nvPr/>
        </p:nvSpPr>
        <p:spPr>
          <a:xfrm>
            <a:off x="7736620" y="1979874"/>
            <a:ext cx="1741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dirty="0">
                <a:solidFill>
                  <a:schemeClr val="bg1"/>
                </a:solidFill>
              </a:rPr>
              <a:t>Mantenimiento de servidores</a:t>
            </a:r>
            <a:endParaRPr lang="es-PA" dirty="0">
              <a:solidFill>
                <a:schemeClr val="bg1"/>
              </a:solidFill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10996654" y="3675360"/>
            <a:ext cx="1677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dirty="0">
                <a:solidFill>
                  <a:schemeClr val="bg1"/>
                </a:solidFill>
              </a:rPr>
              <a:t>Asistencia remota y presencial</a:t>
            </a:r>
            <a:endParaRPr lang="es-PA" dirty="0">
              <a:solidFill>
                <a:schemeClr val="bg1"/>
              </a:solidFill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7793272" y="5564371"/>
            <a:ext cx="1628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PA">
                <a:solidFill>
                  <a:schemeClr val="bg1"/>
                </a:solidFill>
              </a:rPr>
              <a:t>Configuración de redes</a:t>
            </a:r>
            <a:endParaRPr lang="es-P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6982" y="625435"/>
            <a:ext cx="4547830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Portafolio de Productos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16982" y="1408271"/>
            <a:ext cx="7910036" cy="1014651"/>
          </a:xfrm>
          <a:prstGeom prst="roundRect">
            <a:avLst>
              <a:gd name="adj" fmla="val 729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0814" y="1592104"/>
            <a:ext cx="2403396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Pollo Fresco y Congelado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00814" y="1957030"/>
            <a:ext cx="7542371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Variedad de cortes y presentaciones para satisfacer diferentes necesidades culinarias.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16982" y="2599134"/>
            <a:ext cx="7910036" cy="1014651"/>
          </a:xfrm>
          <a:prstGeom prst="roundRect">
            <a:avLst>
              <a:gd name="adj" fmla="val 729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814" y="2782967"/>
            <a:ext cx="2073950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Embutidos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0814" y="3147893"/>
            <a:ext cx="7542371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Salchichas, jamones y chorizos elaborados con los más altos estándares de calidad.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6982" y="3789998"/>
            <a:ext cx="7910036" cy="1014651"/>
          </a:xfrm>
          <a:prstGeom prst="roundRect">
            <a:avLst>
              <a:gd name="adj" fmla="val 729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814" y="3973830"/>
            <a:ext cx="2104549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Productos Precocidos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0814" y="4338757"/>
            <a:ext cx="7542371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Opciones listas para consumir que facilitan la preparación de comidas rápidas y nutritivas.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6982" y="4980861"/>
            <a:ext cx="7910036" cy="1296710"/>
          </a:xfrm>
          <a:prstGeom prst="roundRect">
            <a:avLst>
              <a:gd name="adj" fmla="val 5710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814" y="5164693"/>
            <a:ext cx="2374821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Línea "Toledano Pa Hoy"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0814" y="5529620"/>
            <a:ext cx="7542371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Productos diseñados específicamente para el consumo diario, combinando conveniencia y calidad.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6982" y="6475809"/>
            <a:ext cx="7910036" cy="112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El sistema productivo de Toledano integra materia prima de calidad (pollos de engorde, especias, aditivos alimentarios), personal altamente capacitado, inversiones significativas en infraestructura y tecnología, y plantas procesadoras modernas con certificaciones de calidad. Este enfoque integral garantiza productos terminados que cumplen con las expectativas más exigentes del mercado.</a:t>
            </a:r>
            <a:endParaRPr lang="en-US" sz="1350" dirty="0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852" y="0"/>
            <a:ext cx="5261548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16293"/>
            <a:ext cx="742997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Clasificación y Competencia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18598"/>
            <a:ext cx="333101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Clasificación Empresarial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270986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Sector secundario (industria alimentaria)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317658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Gran empresa (más de 2,000 empleados)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364331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Operación nacional e internacional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11003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Propiedad privada, capital panameño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4761" y="2118598"/>
            <a:ext cx="335101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Principales Competidores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14761" y="270986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Melo S.A.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317658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Avícola Grecia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4761" y="364331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Avícola Panamá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614761" y="411003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Industrias Cárnicas de Panamá (INCAPA)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37724" y="4845963"/>
            <a:ext cx="1295495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Productos Toledano opera en un mercado competitivo donde mantiene una posición destacada gracias a su trayectoria y calidad. Como empresa del sector secundario dedicada a la transformación de materias primas en productos alimenticios, ha logrado establecerse como una gran empresa con presencia tanto nacional como internacional, particularmente en mercados centroamericanos.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37724" y="6647259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La competencia en el sector avícola panameño incluye importantes actores como Melo S.A., Avícola Grecia, Avícola Panamá e INCAPA, lo que impulsa a la empresa a mantener altos estándares de innovación y calidad.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124" y="1152049"/>
            <a:ext cx="12571690" cy="674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Estrategia de Marketing y Estructura Organizativa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24" y="2324338"/>
            <a:ext cx="572929" cy="5729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4129" y="2420303"/>
            <a:ext cx="2239685" cy="337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Producto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604129" y="2894767"/>
            <a:ext cx="2239685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Variedad de productos avícolas y cárnicos de alta calidad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278" y="2324338"/>
            <a:ext cx="572929" cy="5729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2283" y="2420303"/>
            <a:ext cx="2239685" cy="337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Precio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4932283" y="2894767"/>
            <a:ext cx="2239685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Competitivo, accesible para diferentes segmentos del mercado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432" y="2324338"/>
            <a:ext cx="572929" cy="5729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60437" y="2420303"/>
            <a:ext cx="2239685" cy="337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Plaza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8260437" y="2894767"/>
            <a:ext cx="2239685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Distribución nacional en supermercados, minisúper y tiendas de barrio</a:t>
            </a:r>
            <a:endParaRPr lang="en-US" sz="1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6586" y="2324338"/>
            <a:ext cx="572929" cy="5729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588591" y="2420303"/>
            <a:ext cx="2239685" cy="337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Promoción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11588591" y="2894767"/>
            <a:ext cx="2239685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Campañas en medios tradicionales y digitales, presencia en redes sociales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02124" y="4619387"/>
            <a:ext cx="13026152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La estrategia de marketing de Productos Toledano se basa en las cuatro P's del marketing mix, ofreciendo productos de calidad a precios competitivos, con una amplia red de distribución y estrategias promocionales efectivas. Esta aproximación integral ha permitido a la empresa mantener su posicionamiento en el mercado a lo largo de los años.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802124" y="5977295"/>
            <a:ext cx="13026152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Su estructura organizativa está diseñada para optimizar los procesos operativos y administrativos, contando con más de 2,200 colaboradores distribuidos en diversas áreas funcionales que trabajan de manera coordinada para alcanzar los objetivos empresariales.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801" y="542806"/>
            <a:ext cx="4644509" cy="58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Análisis FODA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2378512" y="1856303"/>
            <a:ext cx="2322195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Fortalezas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0801" y="2264807"/>
            <a:ext cx="40099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Trayectoria de más de 70 años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0801" y="2649617"/>
            <a:ext cx="40099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Reconocimiento de marca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0801" y="3034427"/>
            <a:ext cx="40099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Infraestructura moderna</a:t>
            </a:r>
            <a:endParaRPr lang="en-US" sz="1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696" y="1518047"/>
            <a:ext cx="4637008" cy="4637008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919" y="2504361"/>
            <a:ext cx="295275" cy="3690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29693" y="1856303"/>
            <a:ext cx="2322195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Oportunidades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929693" y="2264807"/>
            <a:ext cx="40099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Expansión internacional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9929693" y="2649617"/>
            <a:ext cx="40099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Nuevas tendencias alimentarias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9929693" y="3034427"/>
            <a:ext cx="40099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Comercio electrónico</a:t>
            </a:r>
            <a:endParaRPr lang="en-US" sz="15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6696" y="1518047"/>
            <a:ext cx="4637008" cy="4637008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5087" y="2504361"/>
            <a:ext cx="295275" cy="3690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29693" y="4515207"/>
            <a:ext cx="2322195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Debilidades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9929693" y="4923711"/>
            <a:ext cx="40099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Dependencia del mercado local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9929693" y="5308521"/>
            <a:ext cx="40099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Limitada diversificación</a:t>
            </a:r>
            <a:endParaRPr lang="en-US" sz="15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6696" y="1518047"/>
            <a:ext cx="4637008" cy="4637008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5087" y="4799528"/>
            <a:ext cx="295275" cy="36909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378512" y="4322802"/>
            <a:ext cx="2322195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Amenazas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690801" y="4731306"/>
            <a:ext cx="40099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Competencia creciente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690801" y="5116116"/>
            <a:ext cx="40099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Fluctuación de precios</a:t>
            </a:r>
            <a:endParaRPr lang="en-US" sz="1550" dirty="0"/>
          </a:p>
        </p:txBody>
      </p:sp>
      <p:sp>
        <p:nvSpPr>
          <p:cNvPr id="23" name="Text 15"/>
          <p:cNvSpPr/>
          <p:nvPr/>
        </p:nvSpPr>
        <p:spPr>
          <a:xfrm>
            <a:off x="690801" y="5500926"/>
            <a:ext cx="40099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Cambios regulatorios</a:t>
            </a:r>
            <a:endParaRPr lang="en-US" sz="15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6696" y="1518047"/>
            <a:ext cx="4637008" cy="4637008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9919" y="4799528"/>
            <a:ext cx="295275" cy="36909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0801" y="6377107"/>
            <a:ext cx="13248799" cy="94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El análisis FODA de Productos Toledano revela una empresa con sólidas fortalezas basadas en su experiencia y reconocimiento, pero también con desafíos que enfrentar. Las oportunidades de expansión y adaptación a nuevas tendencias alimentarias contrastan con amenazas como la creciente competencia y la volatilidad de los mercados.</a:t>
            </a:r>
            <a:endParaRPr lang="en-US" sz="1550" dirty="0"/>
          </a:p>
        </p:txBody>
      </p:sp>
      <p:sp>
        <p:nvSpPr>
          <p:cNvPr id="27" name="Text 17"/>
          <p:cNvSpPr/>
          <p:nvPr/>
        </p:nvSpPr>
        <p:spPr>
          <a:xfrm>
            <a:off x="690801" y="7546419"/>
            <a:ext cx="13248799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Este diagnóstico estratégico proporciona una base para la toma de decisiones y el desarrollo de planes de acción que permitan capitalizar las fortalezas y oportunidades mientras se mitigan las debilidades y amenazas.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303" y="594360"/>
            <a:ext cx="6731794" cy="59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Plan de Mejora y Conclusiones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03" y="1594128"/>
            <a:ext cx="1011793" cy="12141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23586" y="1796415"/>
            <a:ext cx="238089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Automatización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023586" y="2215396"/>
            <a:ext cx="1189851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Implementar tecnologías avanzadas en las plantas de procesamiento para aumentar la eficiencia operativa.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03" y="2808327"/>
            <a:ext cx="1011793" cy="12141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23586" y="3010614"/>
            <a:ext cx="238089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Productos Orgánicos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2023586" y="3429595"/>
            <a:ext cx="1189851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Desarrollar una línea de productos orgánicos y saludables para atender nuevos segmentos de mercado.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03" y="4022527"/>
            <a:ext cx="1011793" cy="121419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3586" y="4224814"/>
            <a:ext cx="238089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Presencia Digital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2023586" y="4643795"/>
            <a:ext cx="1189851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Fortalecer la presencia en redes sociales y plataformas digitales para conectar con nuevas audiencias.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08303" y="5464373"/>
            <a:ext cx="13213794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El plan de mejora propuesto para Productos Toledano incluye una inversión estimada de $280,000 distribuidos en investigación y desarrollo ($50,000), tecnología y equipamiento ($200,000), y capacitación y marketing ($30,000). Este plan se implementaría en un periodo de seis meses, comenzando con la investigación y desarrollo de nuevos productos, seguido por la adquisición e instalación de nuevas tecnologías, y finalizando con la capacitación del personal y el lanzamiento de campañas publicitarias.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08303" y="6987421"/>
            <a:ext cx="13213794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En conclusión, Productos Toledano S.A. ha demostrado ser una empresa sólida y comprometida con la calidad y la innovación. Las mejoras propuestas fortalecerán su posición en el mercado y garantizarán su crecimiento sostenible en un entorno cada vez más competitivo y cambiante.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905</Words>
  <Application>Microsoft Office PowerPoint</Application>
  <PresentationFormat>Personalizado</PresentationFormat>
  <Paragraphs>109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Calibri Light</vt:lpstr>
      <vt:lpstr>Wingdings</vt:lpstr>
      <vt:lpstr>Calibri</vt:lpstr>
      <vt:lpstr>Overpass</vt:lpstr>
      <vt:lpstr>Overpass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Felipe Pinto</cp:lastModifiedBy>
  <cp:revision>14</cp:revision>
  <dcterms:created xsi:type="dcterms:W3CDTF">2025-05-13T17:40:11Z</dcterms:created>
  <dcterms:modified xsi:type="dcterms:W3CDTF">2025-06-30T23:16:11Z</dcterms:modified>
</cp:coreProperties>
</file>