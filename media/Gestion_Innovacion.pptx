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72" r:id="rId4"/>
    <p:sldId id="275" r:id="rId5"/>
    <p:sldId id="266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138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PA" sz="1200" dirty="0">
                <a:latin typeface="Arial" panose="020B0604020202020204" pitchFamily="34" charset="0"/>
                <a:cs typeface="Arial" panose="020B0604020202020204" pitchFamily="34" charset="0"/>
              </a:rPr>
              <a:t>Servidores Físicos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MINSEG</c:v>
                </c:pt>
                <c:pt idx="1">
                  <c:v>A.I.T</c:v>
                </c:pt>
                <c:pt idx="2">
                  <c:v>CON C5</c:v>
                </c:pt>
                <c:pt idx="3">
                  <c:v>Boquete</c:v>
                </c:pt>
                <c:pt idx="4">
                  <c:v>IDC</c:v>
                </c:pt>
                <c:pt idx="5">
                  <c:v>Total=34</c:v>
                </c:pt>
              </c:strCache>
            </c:strRef>
          </c:cat>
          <c:val>
            <c:numRef>
              <c:f>Hoja1!$B$2:$B$7</c:f>
              <c:numCache>
                <c:formatCode>General</c:formatCode>
                <c:ptCount val="6"/>
                <c:pt idx="0">
                  <c:v>20</c:v>
                </c:pt>
                <c:pt idx="1">
                  <c:v>2</c:v>
                </c:pt>
                <c:pt idx="2">
                  <c:v>4</c:v>
                </c:pt>
                <c:pt idx="3">
                  <c:v>2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92-4445-8A77-86E8CC32A2B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21041296"/>
        <c:axId val="1221041840"/>
      </c:barChart>
      <c:catAx>
        <c:axId val="1221041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US"/>
          </a:p>
        </c:txPr>
        <c:crossAx val="1221041840"/>
        <c:crosses val="autoZero"/>
        <c:auto val="1"/>
        <c:lblAlgn val="ctr"/>
        <c:lblOffset val="100"/>
        <c:noMultiLvlLbl val="0"/>
      </c:catAx>
      <c:valAx>
        <c:axId val="12210418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S"/>
          </a:p>
        </c:txPr>
        <c:crossAx val="1221041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PA" sz="1200">
                <a:latin typeface="Arial" panose="020B0604020202020204" pitchFamily="34" charset="0"/>
                <a:cs typeface="Arial" panose="020B0604020202020204" pitchFamily="34" charset="0"/>
              </a:rPr>
              <a:t>Versiones de Windows Server Instaladas</a:t>
            </a:r>
          </a:p>
        </c:rich>
      </c:tx>
      <c:layout>
        <c:manualLayout>
          <c:xMode val="edge"/>
          <c:yMode val="edge"/>
          <c:x val="4.7715112258430357E-2"/>
          <c:y val="3.849648530104159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US"/>
        </a:p>
      </c:txPr>
    </c:title>
    <c:autoTitleDeleted val="0"/>
    <c:plotArea>
      <c:layout>
        <c:manualLayout>
          <c:layoutTarget val="inner"/>
          <c:xMode val="edge"/>
          <c:yMode val="edge"/>
          <c:x val="8.4892744450247706E-2"/>
          <c:y val="0.26790783855687705"/>
          <c:w val="0.68521874728202203"/>
          <c:h val="0.61583295518549008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2022</c:v>
                </c:pt>
                <c:pt idx="1">
                  <c:v>2019</c:v>
                </c:pt>
                <c:pt idx="2">
                  <c:v>2016</c:v>
                </c:pt>
                <c:pt idx="3">
                  <c:v>2012</c:v>
                </c:pt>
                <c:pt idx="4">
                  <c:v>2008</c:v>
                </c:pt>
                <c:pt idx="5">
                  <c:v>Total= 88</c:v>
                </c:pt>
              </c:strCache>
            </c:strRef>
          </c:cat>
          <c:val>
            <c:numRef>
              <c:f>Hoja1!$B$2:$B$7</c:f>
              <c:numCache>
                <c:formatCode>General</c:formatCode>
                <c:ptCount val="6"/>
                <c:pt idx="0">
                  <c:v>1</c:v>
                </c:pt>
                <c:pt idx="1">
                  <c:v>17</c:v>
                </c:pt>
                <c:pt idx="2">
                  <c:v>5</c:v>
                </c:pt>
                <c:pt idx="3">
                  <c:v>26</c:v>
                </c:pt>
                <c:pt idx="4">
                  <c:v>39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Hoja1!$B$1</c15:sqref>
                        </c15:formulaRef>
                      </c:ext>
                    </c:extLst>
                    <c:strCache>
                      <c:ptCount val="1"/>
                      <c:pt idx="0">
                        <c:v>Columna2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5C75-44C3-BC41-ACD318F8E279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2022</c:v>
                </c:pt>
                <c:pt idx="1">
                  <c:v>2019</c:v>
                </c:pt>
                <c:pt idx="2">
                  <c:v>2016</c:v>
                </c:pt>
                <c:pt idx="3">
                  <c:v>2012</c:v>
                </c:pt>
                <c:pt idx="4">
                  <c:v>2008</c:v>
                </c:pt>
                <c:pt idx="5">
                  <c:v>Total= 88</c:v>
                </c:pt>
              </c:strCache>
            </c:strRef>
          </c:cat>
          <c:val>
            <c:numRef>
              <c:f>Hoja1!$C$2:$C$7</c:f>
              <c:numCache>
                <c:formatCode>General</c:formatCode>
                <c:ptCount val="6"/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Hoja1!$C$1</c15:sqref>
                        </c15:formulaRef>
                      </c:ext>
                    </c:extLst>
                    <c:strCache>
                      <c:ptCount val="1"/>
                      <c:pt idx="0">
                        <c:v>Columna3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1-5C75-44C3-BC41-ACD318F8E279}"/>
            </c:ext>
          </c:extLst>
        </c:ser>
        <c:ser>
          <c:idx val="2"/>
          <c:order val="2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2022</c:v>
                </c:pt>
                <c:pt idx="1">
                  <c:v>2019</c:v>
                </c:pt>
                <c:pt idx="2">
                  <c:v>2016</c:v>
                </c:pt>
                <c:pt idx="3">
                  <c:v>2012</c:v>
                </c:pt>
                <c:pt idx="4">
                  <c:v>2008</c:v>
                </c:pt>
                <c:pt idx="5">
                  <c:v>Total= 88</c:v>
                </c:pt>
              </c:strCache>
            </c:strRef>
          </c:cat>
          <c:val>
            <c:numRef>
              <c:f>Hoja1!$D$2:$D$7</c:f>
              <c:numCache>
                <c:formatCode>General</c:formatCode>
                <c:ptCount val="6"/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Hoja1!$D$1</c15:sqref>
                        </c15:formulaRef>
                      </c:ext>
                    </c:extLst>
                    <c:strCache>
                      <c:ptCount val="1"/>
                      <c:pt idx="0">
                        <c:v>Columna4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2-5C75-44C3-BC41-ACD318F8E27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70848512"/>
        <c:axId val="1353507216"/>
      </c:barChart>
      <c:catAx>
        <c:axId val="1470848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S"/>
          </a:p>
        </c:txPr>
        <c:crossAx val="1353507216"/>
        <c:crosses val="autoZero"/>
        <c:auto val="1"/>
        <c:lblAlgn val="ctr"/>
        <c:lblOffset val="100"/>
        <c:noMultiLvlLbl val="0"/>
      </c:catAx>
      <c:valAx>
        <c:axId val="13535072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S"/>
          </a:p>
        </c:txPr>
        <c:crossAx val="1470848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PA" sz="1200" b="0">
                <a:latin typeface="Arial" panose="020B0604020202020204" pitchFamily="34" charset="0"/>
                <a:cs typeface="Arial" panose="020B0604020202020204" pitchFamily="34" charset="0"/>
              </a:rPr>
              <a:t>Versiones de Linux Instaladas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3">
                    <a:shade val="65000"/>
                    <a:tint val="94000"/>
                    <a:satMod val="100000"/>
                    <a:lumMod val="104000"/>
                  </a:schemeClr>
                </a:gs>
                <a:gs pos="69000">
                  <a:schemeClr val="accent3">
                    <a:shade val="65000"/>
                    <a:shade val="86000"/>
                    <a:satMod val="130000"/>
                    <a:lumMod val="102000"/>
                  </a:schemeClr>
                </a:gs>
                <a:gs pos="100000">
                  <a:schemeClr val="accent3">
                    <a:shade val="65000"/>
                    <a:shade val="72000"/>
                    <a:satMod val="130000"/>
                    <a:lumMod val="10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76200" dist="38100" dir="5400000" algn="ctr" rotWithShape="0">
                <a:srgbClr val="000000">
                  <a:alpha val="76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Debian</c:v>
                </c:pt>
                <c:pt idx="1">
                  <c:v>CenTOs</c:v>
                </c:pt>
                <c:pt idx="2">
                  <c:v>Red hat Enterprise</c:v>
                </c:pt>
                <c:pt idx="3">
                  <c:v>Ubuntu</c:v>
                </c:pt>
                <c:pt idx="4">
                  <c:v>Total= 24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1</c:v>
                </c:pt>
                <c:pt idx="1">
                  <c:v>17</c:v>
                </c:pt>
                <c:pt idx="2">
                  <c:v>5</c:v>
                </c:pt>
                <c:pt idx="3">
                  <c:v>26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Hoja1!$B$1</c15:sqref>
                        </c15:formulaRef>
                      </c:ext>
                    </c:extLst>
                    <c:strCache>
                      <c:ptCount val="1"/>
                      <c:pt idx="0">
                        <c:v>Columna2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67E9-42FB-84FD-D95BFD8A57D5}"/>
            </c:ext>
          </c:extLst>
        </c:ser>
        <c:ser>
          <c:idx val="1"/>
          <c:order val="1"/>
          <c:spPr>
            <a:gradFill rotWithShape="1">
              <a:gsLst>
                <a:gs pos="0">
                  <a:schemeClr val="accent3">
                    <a:tint val="94000"/>
                    <a:satMod val="100000"/>
                    <a:lumMod val="104000"/>
                  </a:schemeClr>
                </a:gs>
                <a:gs pos="69000">
                  <a:schemeClr val="accent3">
                    <a:shade val="86000"/>
                    <a:satMod val="130000"/>
                    <a:lumMod val="102000"/>
                  </a:schemeClr>
                </a:gs>
                <a:gs pos="100000">
                  <a:schemeClr val="accent3">
                    <a:shade val="72000"/>
                    <a:satMod val="130000"/>
                    <a:lumMod val="10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76200" dist="38100" dir="5400000" algn="ctr" rotWithShape="0">
                <a:srgbClr val="000000">
                  <a:alpha val="76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Debian</c:v>
                </c:pt>
                <c:pt idx="1">
                  <c:v>CenTOs</c:v>
                </c:pt>
                <c:pt idx="2">
                  <c:v>Red hat Enterprise</c:v>
                </c:pt>
                <c:pt idx="3">
                  <c:v>Ubuntu</c:v>
                </c:pt>
                <c:pt idx="4">
                  <c:v>Total= 24</c:v>
                </c:pt>
              </c:strCache>
            </c:strRef>
          </c:cat>
          <c:val>
            <c:numRef>
              <c:f>Hoja1!$C$2:$C$6</c:f>
              <c:numCache>
                <c:formatCode>General</c:formatCode>
                <c:ptCount val="5"/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Hoja1!$C$1</c15:sqref>
                        </c15:formulaRef>
                      </c:ext>
                    </c:extLst>
                    <c:strCache>
                      <c:ptCount val="1"/>
                      <c:pt idx="0">
                        <c:v>Columna3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1-67E9-42FB-84FD-D95BFD8A57D5}"/>
            </c:ext>
          </c:extLst>
        </c:ser>
        <c:ser>
          <c:idx val="2"/>
          <c:order val="2"/>
          <c:spPr>
            <a:gradFill rotWithShape="1">
              <a:gsLst>
                <a:gs pos="0">
                  <a:schemeClr val="accent3">
                    <a:tint val="65000"/>
                    <a:tint val="94000"/>
                    <a:satMod val="100000"/>
                    <a:lumMod val="104000"/>
                  </a:schemeClr>
                </a:gs>
                <a:gs pos="69000">
                  <a:schemeClr val="accent3">
                    <a:tint val="65000"/>
                    <a:shade val="86000"/>
                    <a:satMod val="130000"/>
                    <a:lumMod val="102000"/>
                  </a:schemeClr>
                </a:gs>
                <a:gs pos="100000">
                  <a:schemeClr val="accent3">
                    <a:tint val="65000"/>
                    <a:shade val="72000"/>
                    <a:satMod val="130000"/>
                    <a:lumMod val="10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76200" dist="38100" dir="5400000" algn="ctr" rotWithShape="0">
                <a:srgbClr val="000000">
                  <a:alpha val="76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Debian</c:v>
                </c:pt>
                <c:pt idx="1">
                  <c:v>CenTOs</c:v>
                </c:pt>
                <c:pt idx="2">
                  <c:v>Red hat Enterprise</c:v>
                </c:pt>
                <c:pt idx="3">
                  <c:v>Ubuntu</c:v>
                </c:pt>
                <c:pt idx="4">
                  <c:v>Total= 24</c:v>
                </c:pt>
              </c:strCache>
            </c:strRef>
          </c:cat>
          <c:val>
            <c:numRef>
              <c:f>Hoja1!$D$2:$D$6</c:f>
              <c:numCache>
                <c:formatCode>General</c:formatCode>
                <c:ptCount val="5"/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Hoja1!$D$1</c15:sqref>
                        </c15:formulaRef>
                      </c:ext>
                    </c:extLst>
                    <c:strCache>
                      <c:ptCount val="1"/>
                      <c:pt idx="0">
                        <c:v>Columna4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2-67E9-42FB-84FD-D95BFD8A57D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920510960"/>
        <c:axId val="920514768"/>
      </c:barChart>
      <c:catAx>
        <c:axId val="920510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S"/>
          </a:p>
        </c:txPr>
        <c:crossAx val="920514768"/>
        <c:crosses val="autoZero"/>
        <c:auto val="1"/>
        <c:lblAlgn val="ctr"/>
        <c:lblOffset val="100"/>
        <c:noMultiLvlLbl val="0"/>
      </c:catAx>
      <c:valAx>
        <c:axId val="920514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S"/>
          </a:p>
        </c:txPr>
        <c:crossAx val="920510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PA" sz="1200"/>
              <a:t>Base de datos de sql Server por Versión</a:t>
            </a:r>
          </a:p>
        </c:rich>
      </c:tx>
      <c:layout>
        <c:manualLayout>
          <c:xMode val="edge"/>
          <c:yMode val="edge"/>
          <c:x val="0.14968549217012861"/>
          <c:y val="6.71066829967567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US"/>
        </a:p>
      </c:txPr>
    </c:title>
    <c:autoTitleDeleted val="0"/>
    <c:plotArea>
      <c:layout>
        <c:manualLayout>
          <c:layoutTarget val="inner"/>
          <c:xMode val="edge"/>
          <c:yMode val="edge"/>
          <c:x val="0.23767431525421084"/>
          <c:y val="0.24677459444481573"/>
          <c:w val="0.62203169013046888"/>
          <c:h val="0.496466527946005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2022</c:v>
                </c:pt>
                <c:pt idx="1">
                  <c:v>2019</c:v>
                </c:pt>
                <c:pt idx="2">
                  <c:v>2017</c:v>
                </c:pt>
                <c:pt idx="3">
                  <c:v>2014</c:v>
                </c:pt>
                <c:pt idx="4">
                  <c:v>Total= 38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Hoja1!$B$1</c15:sqref>
                        </c15:formulaRef>
                      </c:ext>
                    </c:extLst>
                    <c:strCache>
                      <c:ptCount val="1"/>
                      <c:pt idx="0">
                        <c:v>Columna2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2F4A-486D-B197-3B655FB4BB76}"/>
            </c:ext>
          </c:extLst>
        </c:ser>
        <c:ser>
          <c:idx val="1"/>
          <c:order val="1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2022</c:v>
                </c:pt>
                <c:pt idx="1">
                  <c:v>2019</c:v>
                </c:pt>
                <c:pt idx="2">
                  <c:v>2017</c:v>
                </c:pt>
                <c:pt idx="3">
                  <c:v>2014</c:v>
                </c:pt>
                <c:pt idx="4">
                  <c:v>Total= 38</c:v>
                </c:pt>
              </c:strCache>
            </c:strRef>
          </c:cat>
          <c:val>
            <c:numRef>
              <c:f>Hoja1!$C$2:$C$6</c:f>
              <c:numCache>
                <c:formatCode>General</c:formatCode>
                <c:ptCount val="5"/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Hoja1!$C$1</c15:sqref>
                        </c15:formulaRef>
                      </c:ext>
                    </c:extLst>
                    <c:strCache>
                      <c:ptCount val="1"/>
                      <c:pt idx="0">
                        <c:v>Columna3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1-2F4A-486D-B197-3B655FB4BB76}"/>
            </c:ext>
          </c:extLst>
        </c:ser>
        <c:ser>
          <c:idx val="2"/>
          <c:order val="2"/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2022</c:v>
                </c:pt>
                <c:pt idx="1">
                  <c:v>2019</c:v>
                </c:pt>
                <c:pt idx="2">
                  <c:v>2017</c:v>
                </c:pt>
                <c:pt idx="3">
                  <c:v>2014</c:v>
                </c:pt>
                <c:pt idx="4">
                  <c:v>Total= 38</c:v>
                </c:pt>
              </c:strCache>
            </c:strRef>
          </c:cat>
          <c:val>
            <c:numRef>
              <c:f>Hoja1!$D$2:$D$6</c:f>
              <c:numCache>
                <c:formatCode>General</c:formatCode>
                <c:ptCount val="5"/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Hoja1!$D$1</c15:sqref>
                        </c15:formulaRef>
                      </c:ext>
                    </c:extLst>
                    <c:strCache>
                      <c:ptCount val="1"/>
                      <c:pt idx="0">
                        <c:v>Columna4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2-2F4A-486D-B197-3B655FB4BB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75777824"/>
        <c:axId val="1475778368"/>
      </c:barChart>
      <c:catAx>
        <c:axId val="1475777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US"/>
          </a:p>
        </c:txPr>
        <c:crossAx val="1475778368"/>
        <c:crosses val="autoZero"/>
        <c:auto val="1"/>
        <c:lblAlgn val="ctr"/>
        <c:lblOffset val="100"/>
        <c:noMultiLvlLbl val="0"/>
      </c:catAx>
      <c:valAx>
        <c:axId val="14757783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US"/>
          </a:p>
        </c:txPr>
        <c:crossAx val="1475777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Arial" panose="020B0604020202020204" pitchFamily="34" charset="0"/>
          <a:cs typeface="Arial" panose="020B0604020202020204" pitchFamily="34" charset="0"/>
        </a:defRPr>
      </a:pPr>
      <a:endParaRPr lang="es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PA" sz="1200" dirty="0">
                <a:latin typeface="Arial" panose="020B0604020202020204" pitchFamily="34" charset="0"/>
                <a:cs typeface="Arial" panose="020B0604020202020204" pitchFamily="34" charset="0"/>
              </a:rPr>
              <a:t>Servidores Virtuales</a:t>
            </a:r>
          </a:p>
        </c:rich>
      </c:tx>
      <c:layout>
        <c:manualLayout>
          <c:xMode val="edge"/>
          <c:yMode val="edge"/>
          <c:x val="0.25006895300508397"/>
          <c:y val="2.12471224369612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US"/>
        </a:p>
      </c:txPr>
    </c:title>
    <c:autoTitleDeleted val="0"/>
    <c:plotArea>
      <c:layout>
        <c:manualLayout>
          <c:layoutTarget val="inner"/>
          <c:xMode val="edge"/>
          <c:yMode val="edge"/>
          <c:x val="0.16217783521719187"/>
          <c:y val="6.2216884050860587E-2"/>
          <c:w val="0.77718759147061423"/>
          <c:h val="0.798847975837639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SERVIDORES FÍSICOS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Hoja1!$A$2:$A$5</c:f>
              <c:strCache>
                <c:ptCount val="4"/>
                <c:pt idx="0">
                  <c:v>IDC</c:v>
                </c:pt>
                <c:pt idx="1">
                  <c:v>CON C5</c:v>
                </c:pt>
                <c:pt idx="2">
                  <c:v>MINSEG</c:v>
                </c:pt>
                <c:pt idx="3">
                  <c:v>Total=86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80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A5-4501-8D24-533551DDA1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21041296"/>
        <c:axId val="1221041840"/>
      </c:barChart>
      <c:catAx>
        <c:axId val="1221041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US"/>
          </a:p>
        </c:txPr>
        <c:crossAx val="1221041840"/>
        <c:crosses val="autoZero"/>
        <c:auto val="1"/>
        <c:lblAlgn val="ctr"/>
        <c:lblOffset val="100"/>
        <c:noMultiLvlLbl val="0"/>
      </c:catAx>
      <c:valAx>
        <c:axId val="12210418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S"/>
          </a:p>
        </c:txPr>
        <c:crossAx val="1221041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9465525960078665E-2"/>
          <c:y val="0.11136880805833513"/>
          <c:w val="0.52999309709426745"/>
          <c:h val="0.7772623838833298"/>
        </c:manualLayout>
      </c:layout>
      <c:pie3D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explosion val="27"/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A9EF-450C-888C-BA8CD389729B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A9EF-450C-888C-BA8CD389729B}"/>
              </c:ext>
            </c:extLst>
          </c:dPt>
          <c:dLbls>
            <c:dLbl>
              <c:idx val="0"/>
              <c:layout>
                <c:manualLayout>
                  <c:x val="-4.3014510122391145E-2"/>
                  <c:y val="-9.17526668465379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50" b="1" i="0" u="none" strike="noStrike" kern="1200" spc="0" baseline="0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fld id="{83CDDFCF-00F6-48DB-8A20-DF7829B2D928}" type="CATEGORYNAME">
                      <a:rPr lang="en-US"/>
                      <a:pPr>
                        <a:defRPr sz="1050"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pPr>
                      <a:t>[NOMBRE DE CATEGORÍA]</a:t>
                    </a:fld>
                    <a:r>
                      <a:rPr lang="en-US" baseline="0" dirty="0"/>
                      <a:t>, 35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spc="0" baseline="0">
                      <a:solidFill>
                        <a:schemeClr val="accent2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s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917662009174428"/>
                      <c:h val="0.1742629174600014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9EF-450C-888C-BA8CD389729B}"/>
                </c:ext>
              </c:extLst>
            </c:dLbl>
            <c:dLbl>
              <c:idx val="1"/>
              <c:layout>
                <c:manualLayout>
                  <c:x val="0.20017603364983205"/>
                  <c:y val="0.1457757083403807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50" b="1" i="0" u="none" strike="noStrike" kern="1200" spc="0" baseline="0">
                        <a:solidFill>
                          <a:schemeClr val="accent2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fld id="{DA54056D-1C6E-4DAF-A208-6D3B294E00A8}" type="CATEGORYNAME">
                      <a:rPr lang="en-US"/>
                      <a:pPr>
                        <a:defRPr sz="105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pPr>
                      <a:t>[NOMBRE DE CATEGORÍA]</a:t>
                    </a:fld>
                    <a:r>
                      <a:rPr lang="en-US" baseline="0"/>
                      <a:t>, 86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spc="0" baseline="0">
                      <a:solidFill>
                        <a:schemeClr val="accent2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s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927584192976851"/>
                      <c:h val="0.2265752247941625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9EF-450C-888C-BA8CD389729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spc="0" baseline="0">
                    <a:solidFill>
                      <a:schemeClr val="accent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Hoja1!$A$2:$A$5</c:f>
              <c:strCache>
                <c:ptCount val="2"/>
                <c:pt idx="0">
                  <c:v>Servidores físicos</c:v>
                </c:pt>
                <c:pt idx="1">
                  <c:v>Servidores virtuales</c:v>
                </c:pt>
              </c:strCache>
              <c:extLst/>
            </c:strRef>
          </c:cat>
          <c:val>
            <c:numRef>
              <c:f>Hoja1!$B$2:$B$5</c:f>
              <c:numCache>
                <c:formatCode>General</c:formatCode>
                <c:ptCount val="2"/>
                <c:pt idx="0">
                  <c:v>34</c:v>
                </c:pt>
                <c:pt idx="1">
                  <c:v>85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4-A9EF-450C-888C-BA8CD389729B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PA" sz="1200" dirty="0">
                <a:latin typeface="Arial" panose="020B0604020202020204" pitchFamily="34" charset="0"/>
                <a:cs typeface="Arial" panose="020B0604020202020204" pitchFamily="34" charset="0"/>
              </a:rPr>
              <a:t>Servidores Virtuales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SERVIDORES FÍSICOS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Hoja1!$A$2:$A$5</c:f>
              <c:strCache>
                <c:ptCount val="4"/>
                <c:pt idx="0">
                  <c:v>IDC</c:v>
                </c:pt>
                <c:pt idx="1">
                  <c:v>CON C5</c:v>
                </c:pt>
                <c:pt idx="2">
                  <c:v>MINSEG</c:v>
                </c:pt>
                <c:pt idx="3">
                  <c:v>Total=86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80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92-4445-8A77-86E8CC32A2B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21041296"/>
        <c:axId val="1221041840"/>
      </c:barChart>
      <c:catAx>
        <c:axId val="1221041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US"/>
          </a:p>
        </c:txPr>
        <c:crossAx val="1221041840"/>
        <c:crosses val="autoZero"/>
        <c:auto val="1"/>
        <c:lblAlgn val="ctr"/>
        <c:lblOffset val="100"/>
        <c:noMultiLvlLbl val="0"/>
      </c:catAx>
      <c:valAx>
        <c:axId val="12210418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S"/>
          </a:p>
        </c:txPr>
        <c:crossAx val="1221041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CON C5</c:v>
          </c:tx>
          <c:spPr>
            <a:solidFill>
              <a:schemeClr val="tx2">
                <a:lumMod val="25000"/>
              </a:schemeClr>
            </a:solidFill>
            <a:ln w="9525" cap="flat" cmpd="sng" algn="ctr">
              <a:solidFill>
                <a:schemeClr val="bg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Hoja1!$A$2:$B$2</c:f>
              <c:numCache>
                <c:formatCode>General</c:formatCode>
                <c:ptCount val="1"/>
                <c:pt idx="0">
                  <c:v>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BEDF-4D01-886D-0A9C4D0BDD5C}"/>
            </c:ext>
          </c:extLst>
        </c:ser>
        <c:ser>
          <c:idx val="1"/>
          <c:order val="1"/>
          <c:tx>
            <c:v>I.D.C</c:v>
          </c:tx>
          <c:spPr>
            <a:solidFill>
              <a:schemeClr val="accent5">
                <a:lumMod val="75000"/>
              </a:schemeClr>
            </a:soli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Hoja1!$A$3:$B$3</c:f>
              <c:numCache>
                <c:formatCode>General</c:formatCode>
                <c:ptCount val="1"/>
                <c:pt idx="0">
                  <c:v>80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BEDF-4D01-886D-0A9C4D0BDD5C}"/>
            </c:ext>
          </c:extLst>
        </c:ser>
        <c:ser>
          <c:idx val="2"/>
          <c:order val="2"/>
          <c:tx>
            <c:v>M.I.N.S.E.G.</c:v>
          </c:tx>
          <c:spPr>
            <a:solidFill>
              <a:srgbClr val="FF0000"/>
            </a:solidFill>
            <a:ln w="9525" cap="flat" cmpd="sng" algn="ctr">
              <a:solidFill>
                <a:schemeClr val="bg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mc:AlternateContent xmlns:mc="http://schemas.openxmlformats.org/markup-compatibility/2006">
              <mc:Choice xmlns:c16ac="http://schemas.microsoft.com/office/drawing/2014/chart/ac" Requires="c16ac">
                <c16ac:multiLvlStrLit>
                  <c:ptCount val="0"/>
                </c16ac:multiLvlStrLit>
              </mc:Choice>
              <mc:Fallback>
                <c:strLit/>
              </mc:Fallback>
            </mc:AlternateContent>
          </c:cat>
          <c:val>
            <c:numRef>
              <c:f>Hoja1!$A$4:$B$4</c:f>
              <c:numCache>
                <c:formatCode>General</c:formatCode>
                <c:ptCount val="1"/>
                <c:pt idx="0">
                  <c:v>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BEDF-4D01-886D-0A9C4D0BDD5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221042928"/>
        <c:axId val="1221046736"/>
      </c:barChart>
      <c:catAx>
        <c:axId val="1221042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S"/>
          </a:p>
        </c:txPr>
        <c:crossAx val="1221046736"/>
        <c:crosses val="autoZero"/>
        <c:auto val="1"/>
        <c:lblAlgn val="ctr"/>
        <c:lblOffset val="100"/>
        <c:noMultiLvlLbl val="0"/>
      </c:catAx>
      <c:valAx>
        <c:axId val="12210467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S"/>
          </a:p>
        </c:txPr>
        <c:crossAx val="1221042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PA" sz="1200">
                <a:latin typeface="Arial" panose="020B0604020202020204" pitchFamily="34" charset="0"/>
                <a:cs typeface="Arial" panose="020B0604020202020204" pitchFamily="34" charset="0"/>
              </a:rPr>
              <a:t>Versiones de Windows Server Instaladas</a:t>
            </a:r>
          </a:p>
        </c:rich>
      </c:tx>
      <c:layout>
        <c:manualLayout>
          <c:xMode val="edge"/>
          <c:yMode val="edge"/>
          <c:x val="4.7715112258430357E-2"/>
          <c:y val="3.849648530104159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US"/>
        </a:p>
      </c:txPr>
    </c:title>
    <c:autoTitleDeleted val="0"/>
    <c:plotArea>
      <c:layout>
        <c:manualLayout>
          <c:layoutTarget val="inner"/>
          <c:xMode val="edge"/>
          <c:yMode val="edge"/>
          <c:x val="8.4892744450247706E-2"/>
          <c:y val="0.26790783855687705"/>
          <c:w val="0.68521874728202203"/>
          <c:h val="0.61583295518549008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2022</c:v>
                </c:pt>
                <c:pt idx="1">
                  <c:v>2019</c:v>
                </c:pt>
                <c:pt idx="2">
                  <c:v>2016</c:v>
                </c:pt>
                <c:pt idx="3">
                  <c:v>2012</c:v>
                </c:pt>
                <c:pt idx="4">
                  <c:v>2008</c:v>
                </c:pt>
                <c:pt idx="5">
                  <c:v>Total= 88</c:v>
                </c:pt>
              </c:strCache>
            </c:strRef>
          </c:cat>
          <c:val>
            <c:numRef>
              <c:f>Hoja1!$B$2:$B$7</c:f>
              <c:numCache>
                <c:formatCode>General</c:formatCode>
                <c:ptCount val="6"/>
                <c:pt idx="0">
                  <c:v>1</c:v>
                </c:pt>
                <c:pt idx="1">
                  <c:v>17</c:v>
                </c:pt>
                <c:pt idx="2">
                  <c:v>5</c:v>
                </c:pt>
                <c:pt idx="3">
                  <c:v>26</c:v>
                </c:pt>
                <c:pt idx="4">
                  <c:v>39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Hoja1!$B$1</c15:sqref>
                        </c15:formulaRef>
                      </c:ext>
                    </c:extLst>
                    <c:strCache>
                      <c:ptCount val="1"/>
                      <c:pt idx="0">
                        <c:v>Columna2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5C75-44C3-BC41-ACD318F8E279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2022</c:v>
                </c:pt>
                <c:pt idx="1">
                  <c:v>2019</c:v>
                </c:pt>
                <c:pt idx="2">
                  <c:v>2016</c:v>
                </c:pt>
                <c:pt idx="3">
                  <c:v>2012</c:v>
                </c:pt>
                <c:pt idx="4">
                  <c:v>2008</c:v>
                </c:pt>
                <c:pt idx="5">
                  <c:v>Total= 88</c:v>
                </c:pt>
              </c:strCache>
            </c:strRef>
          </c:cat>
          <c:val>
            <c:numRef>
              <c:f>Hoja1!$C$2:$C$7</c:f>
              <c:numCache>
                <c:formatCode>General</c:formatCode>
                <c:ptCount val="6"/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Hoja1!$C$1</c15:sqref>
                        </c15:formulaRef>
                      </c:ext>
                    </c:extLst>
                    <c:strCache>
                      <c:ptCount val="1"/>
                      <c:pt idx="0">
                        <c:v>Columna3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1-5C75-44C3-BC41-ACD318F8E279}"/>
            </c:ext>
          </c:extLst>
        </c:ser>
        <c:ser>
          <c:idx val="2"/>
          <c:order val="2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2022</c:v>
                </c:pt>
                <c:pt idx="1">
                  <c:v>2019</c:v>
                </c:pt>
                <c:pt idx="2">
                  <c:v>2016</c:v>
                </c:pt>
                <c:pt idx="3">
                  <c:v>2012</c:v>
                </c:pt>
                <c:pt idx="4">
                  <c:v>2008</c:v>
                </c:pt>
                <c:pt idx="5">
                  <c:v>Total= 88</c:v>
                </c:pt>
              </c:strCache>
            </c:strRef>
          </c:cat>
          <c:val>
            <c:numRef>
              <c:f>Hoja1!$D$2:$D$7</c:f>
              <c:numCache>
                <c:formatCode>General</c:formatCode>
                <c:ptCount val="6"/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Hoja1!$D$1</c15:sqref>
                        </c15:formulaRef>
                      </c:ext>
                    </c:extLst>
                    <c:strCache>
                      <c:ptCount val="1"/>
                      <c:pt idx="0">
                        <c:v>Columna4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2-5C75-44C3-BC41-ACD318F8E27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70848512"/>
        <c:axId val="1353507216"/>
      </c:barChart>
      <c:catAx>
        <c:axId val="1470848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S"/>
          </a:p>
        </c:txPr>
        <c:crossAx val="1353507216"/>
        <c:crosses val="autoZero"/>
        <c:auto val="1"/>
        <c:lblAlgn val="ctr"/>
        <c:lblOffset val="100"/>
        <c:noMultiLvlLbl val="0"/>
      </c:catAx>
      <c:valAx>
        <c:axId val="13535072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S"/>
          </a:p>
        </c:txPr>
        <c:crossAx val="14708485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PA" sz="1200" b="0">
                <a:latin typeface="Arial" panose="020B0604020202020204" pitchFamily="34" charset="0"/>
                <a:cs typeface="Arial" panose="020B0604020202020204" pitchFamily="34" charset="0"/>
              </a:rPr>
              <a:t>Versiones de Linux Instaladas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3">
                    <a:shade val="65000"/>
                    <a:tint val="94000"/>
                    <a:satMod val="100000"/>
                    <a:lumMod val="104000"/>
                  </a:schemeClr>
                </a:gs>
                <a:gs pos="69000">
                  <a:schemeClr val="accent3">
                    <a:shade val="65000"/>
                    <a:shade val="86000"/>
                    <a:satMod val="130000"/>
                    <a:lumMod val="102000"/>
                  </a:schemeClr>
                </a:gs>
                <a:gs pos="100000">
                  <a:schemeClr val="accent3">
                    <a:shade val="65000"/>
                    <a:shade val="72000"/>
                    <a:satMod val="130000"/>
                    <a:lumMod val="10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76200" dist="38100" dir="5400000" algn="ctr" rotWithShape="0">
                <a:srgbClr val="000000">
                  <a:alpha val="76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Debian</c:v>
                </c:pt>
                <c:pt idx="1">
                  <c:v>CenTOs</c:v>
                </c:pt>
                <c:pt idx="2">
                  <c:v>Red hat Enterprise</c:v>
                </c:pt>
                <c:pt idx="3">
                  <c:v>Ubuntu</c:v>
                </c:pt>
                <c:pt idx="4">
                  <c:v>Total= 24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1</c:v>
                </c:pt>
                <c:pt idx="1">
                  <c:v>17</c:v>
                </c:pt>
                <c:pt idx="2">
                  <c:v>5</c:v>
                </c:pt>
                <c:pt idx="3">
                  <c:v>26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Hoja1!$B$1</c15:sqref>
                        </c15:formulaRef>
                      </c:ext>
                    </c:extLst>
                    <c:strCache>
                      <c:ptCount val="1"/>
                      <c:pt idx="0">
                        <c:v>Columna2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67E9-42FB-84FD-D95BFD8A57D5}"/>
            </c:ext>
          </c:extLst>
        </c:ser>
        <c:ser>
          <c:idx val="1"/>
          <c:order val="1"/>
          <c:spPr>
            <a:gradFill rotWithShape="1">
              <a:gsLst>
                <a:gs pos="0">
                  <a:schemeClr val="accent3">
                    <a:tint val="94000"/>
                    <a:satMod val="100000"/>
                    <a:lumMod val="104000"/>
                  </a:schemeClr>
                </a:gs>
                <a:gs pos="69000">
                  <a:schemeClr val="accent3">
                    <a:shade val="86000"/>
                    <a:satMod val="130000"/>
                    <a:lumMod val="102000"/>
                  </a:schemeClr>
                </a:gs>
                <a:gs pos="100000">
                  <a:schemeClr val="accent3">
                    <a:shade val="72000"/>
                    <a:satMod val="130000"/>
                    <a:lumMod val="10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76200" dist="38100" dir="5400000" algn="ctr" rotWithShape="0">
                <a:srgbClr val="000000">
                  <a:alpha val="76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Debian</c:v>
                </c:pt>
                <c:pt idx="1">
                  <c:v>CenTOs</c:v>
                </c:pt>
                <c:pt idx="2">
                  <c:v>Red hat Enterprise</c:v>
                </c:pt>
                <c:pt idx="3">
                  <c:v>Ubuntu</c:v>
                </c:pt>
                <c:pt idx="4">
                  <c:v>Total= 24</c:v>
                </c:pt>
              </c:strCache>
            </c:strRef>
          </c:cat>
          <c:val>
            <c:numRef>
              <c:f>Hoja1!$C$2:$C$6</c:f>
              <c:numCache>
                <c:formatCode>General</c:formatCode>
                <c:ptCount val="5"/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Hoja1!$C$1</c15:sqref>
                        </c15:formulaRef>
                      </c:ext>
                    </c:extLst>
                    <c:strCache>
                      <c:ptCount val="1"/>
                      <c:pt idx="0">
                        <c:v>Columna3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1-67E9-42FB-84FD-D95BFD8A57D5}"/>
            </c:ext>
          </c:extLst>
        </c:ser>
        <c:ser>
          <c:idx val="2"/>
          <c:order val="2"/>
          <c:spPr>
            <a:gradFill rotWithShape="1">
              <a:gsLst>
                <a:gs pos="0">
                  <a:schemeClr val="accent3">
                    <a:tint val="65000"/>
                    <a:tint val="94000"/>
                    <a:satMod val="100000"/>
                    <a:lumMod val="104000"/>
                  </a:schemeClr>
                </a:gs>
                <a:gs pos="69000">
                  <a:schemeClr val="accent3">
                    <a:tint val="65000"/>
                    <a:shade val="86000"/>
                    <a:satMod val="130000"/>
                    <a:lumMod val="102000"/>
                  </a:schemeClr>
                </a:gs>
                <a:gs pos="100000">
                  <a:schemeClr val="accent3">
                    <a:tint val="65000"/>
                    <a:shade val="72000"/>
                    <a:satMod val="130000"/>
                    <a:lumMod val="100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76200" dist="38100" dir="5400000" algn="ctr" rotWithShape="0">
                <a:srgbClr val="000000">
                  <a:alpha val="76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/>
            </a:scene3d>
            <a:sp3d prstMaterial="matte">
              <a:bevelT w="25400" h="25400" prst="relaxedInset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Debian</c:v>
                </c:pt>
                <c:pt idx="1">
                  <c:v>CenTOs</c:v>
                </c:pt>
                <c:pt idx="2">
                  <c:v>Red hat Enterprise</c:v>
                </c:pt>
                <c:pt idx="3">
                  <c:v>Ubuntu</c:v>
                </c:pt>
                <c:pt idx="4">
                  <c:v>Total= 24</c:v>
                </c:pt>
              </c:strCache>
            </c:strRef>
          </c:cat>
          <c:val>
            <c:numRef>
              <c:f>Hoja1!$D$2:$D$6</c:f>
              <c:numCache>
                <c:formatCode>General</c:formatCode>
                <c:ptCount val="5"/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Hoja1!$D$1</c15:sqref>
                        </c15:formulaRef>
                      </c:ext>
                    </c:extLst>
                    <c:strCache>
                      <c:ptCount val="1"/>
                      <c:pt idx="0">
                        <c:v>Columna4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2-67E9-42FB-84FD-D95BFD8A57D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920510960"/>
        <c:axId val="920514768"/>
      </c:barChart>
      <c:catAx>
        <c:axId val="920510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S"/>
          </a:p>
        </c:txPr>
        <c:crossAx val="920514768"/>
        <c:crosses val="autoZero"/>
        <c:auto val="1"/>
        <c:lblAlgn val="ctr"/>
        <c:lblOffset val="100"/>
        <c:noMultiLvlLbl val="0"/>
      </c:catAx>
      <c:valAx>
        <c:axId val="9205147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US"/>
          </a:p>
        </c:txPr>
        <c:crossAx val="920510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s-PA" sz="1200"/>
              <a:t>Base de datos de sql Server por Versión</a:t>
            </a:r>
          </a:p>
        </c:rich>
      </c:tx>
      <c:layout>
        <c:manualLayout>
          <c:xMode val="edge"/>
          <c:yMode val="edge"/>
          <c:x val="0.14968549217012861"/>
          <c:y val="6.71066829967567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US"/>
        </a:p>
      </c:txPr>
    </c:title>
    <c:autoTitleDeleted val="0"/>
    <c:plotArea>
      <c:layout>
        <c:manualLayout>
          <c:layoutTarget val="inner"/>
          <c:xMode val="edge"/>
          <c:yMode val="edge"/>
          <c:x val="0.23767431525421084"/>
          <c:y val="0.24677459444481573"/>
          <c:w val="0.62203169013046888"/>
          <c:h val="0.496466527946005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5">
                <a:lumMod val="7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2022</c:v>
                </c:pt>
                <c:pt idx="1">
                  <c:v>2019</c:v>
                </c:pt>
                <c:pt idx="2">
                  <c:v>2017</c:v>
                </c:pt>
                <c:pt idx="3">
                  <c:v>2014</c:v>
                </c:pt>
                <c:pt idx="4">
                  <c:v>Total= 38</c:v>
                </c:pt>
              </c:strCache>
            </c:strRef>
          </c:cat>
          <c:val>
            <c:numRef>
              <c:f>Hoja1!$B$2:$B$6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Hoja1!$B$1</c15:sqref>
                        </c15:formulaRef>
                      </c:ext>
                    </c:extLst>
                    <c:strCache>
                      <c:ptCount val="1"/>
                      <c:pt idx="0">
                        <c:v>Columna2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2F4A-486D-B197-3B655FB4BB76}"/>
            </c:ext>
          </c:extLst>
        </c:ser>
        <c:ser>
          <c:idx val="1"/>
          <c:order val="1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2022</c:v>
                </c:pt>
                <c:pt idx="1">
                  <c:v>2019</c:v>
                </c:pt>
                <c:pt idx="2">
                  <c:v>2017</c:v>
                </c:pt>
                <c:pt idx="3">
                  <c:v>2014</c:v>
                </c:pt>
                <c:pt idx="4">
                  <c:v>Total= 38</c:v>
                </c:pt>
              </c:strCache>
            </c:strRef>
          </c:cat>
          <c:val>
            <c:numRef>
              <c:f>Hoja1!$C$2:$C$6</c:f>
              <c:numCache>
                <c:formatCode>General</c:formatCode>
                <c:ptCount val="5"/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Hoja1!$C$1</c15:sqref>
                        </c15:formulaRef>
                      </c:ext>
                    </c:extLst>
                    <c:strCache>
                      <c:ptCount val="1"/>
                      <c:pt idx="0">
                        <c:v>Columna3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1-2F4A-486D-B197-3B655FB4BB76}"/>
            </c:ext>
          </c:extLst>
        </c:ser>
        <c:ser>
          <c:idx val="2"/>
          <c:order val="2"/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s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Hoja1!$A$2:$A$6</c:f>
              <c:strCache>
                <c:ptCount val="5"/>
                <c:pt idx="0">
                  <c:v>2022</c:v>
                </c:pt>
                <c:pt idx="1">
                  <c:v>2019</c:v>
                </c:pt>
                <c:pt idx="2">
                  <c:v>2017</c:v>
                </c:pt>
                <c:pt idx="3">
                  <c:v>2014</c:v>
                </c:pt>
                <c:pt idx="4">
                  <c:v>Total= 38</c:v>
                </c:pt>
              </c:strCache>
            </c:strRef>
          </c:cat>
          <c:val>
            <c:numRef>
              <c:f>Hoja1!$D$2:$D$6</c:f>
              <c:numCache>
                <c:formatCode>General</c:formatCode>
                <c:ptCount val="5"/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Hoja1!$D$1</c15:sqref>
                        </c15:formulaRef>
                      </c:ext>
                    </c:extLst>
                    <c:strCache>
                      <c:ptCount val="1"/>
                      <c:pt idx="0">
                        <c:v>Columna4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2-2F4A-486D-B197-3B655FB4BB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75777824"/>
        <c:axId val="1475778368"/>
      </c:barChart>
      <c:catAx>
        <c:axId val="1475777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US"/>
          </a:p>
        </c:txPr>
        <c:crossAx val="1475778368"/>
        <c:crosses val="autoZero"/>
        <c:auto val="1"/>
        <c:lblAlgn val="ctr"/>
        <c:lblOffset val="100"/>
        <c:noMultiLvlLbl val="0"/>
      </c:catAx>
      <c:valAx>
        <c:axId val="147577836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US"/>
          </a:p>
        </c:txPr>
        <c:crossAx val="1475777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latin typeface="Arial" panose="020B0604020202020204" pitchFamily="34" charset="0"/>
          <a:cs typeface="Arial" panose="020B0604020202020204" pitchFamily="34" charset="0"/>
        </a:defRPr>
      </a:pPr>
      <a:endParaRPr lang="es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8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1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101268-16CC-4718-B30D-7C8ED516943F}" type="doc">
      <dgm:prSet loTypeId="urn:microsoft.com/office/officeart/2008/layout/VerticalCircleList" loCatId="list" qsTypeId="urn:microsoft.com/office/officeart/2005/8/quickstyle/3d4" qsCatId="3D" csTypeId="urn:microsoft.com/office/officeart/2005/8/colors/colorful5" csCatId="colorful" phldr="1"/>
      <dgm:spPr/>
      <dgm:t>
        <a:bodyPr/>
        <a:lstStyle/>
        <a:p>
          <a:endParaRPr lang="es-PA"/>
        </a:p>
      </dgm:t>
    </dgm:pt>
    <dgm:pt modelId="{CB3E5F43-707D-481F-850B-390BD08C2DEF}">
      <dgm:prSet phldrT="[Texto]" custT="1"/>
      <dgm:spPr/>
      <dgm:t>
        <a:bodyPr/>
        <a:lstStyle/>
        <a:p>
          <a:r>
            <a:rPr lang="es-PA" sz="1200" b="1" dirty="0">
              <a:latin typeface="Arial" panose="020B0604020202020204" pitchFamily="34" charset="0"/>
              <a:cs typeface="Arial" panose="020B0604020202020204" pitchFamily="34" charset="0"/>
            </a:rPr>
            <a:t>Aplicativos existentes del M.I.N.S.E.G</a:t>
          </a:r>
          <a:endParaRPr lang="es-PA" sz="1200" dirty="0"/>
        </a:p>
      </dgm:t>
    </dgm:pt>
    <dgm:pt modelId="{8BEAA481-3559-411A-AA56-FC5516DBAD89}" type="parTrans" cxnId="{82528133-ACB2-4DAC-AE11-1F582BA3AAE2}">
      <dgm:prSet/>
      <dgm:spPr/>
      <dgm:t>
        <a:bodyPr/>
        <a:lstStyle/>
        <a:p>
          <a:endParaRPr lang="es-PA"/>
        </a:p>
      </dgm:t>
    </dgm:pt>
    <dgm:pt modelId="{A0D68263-D70F-4F38-ABB1-4EF5325B1E8D}" type="sibTrans" cxnId="{82528133-ACB2-4DAC-AE11-1F582BA3AAE2}">
      <dgm:prSet/>
      <dgm:spPr/>
      <dgm:t>
        <a:bodyPr/>
        <a:lstStyle/>
        <a:p>
          <a:endParaRPr lang="es-PA"/>
        </a:p>
      </dgm:t>
    </dgm:pt>
    <dgm:pt modelId="{7D323545-8C65-4808-B717-4DA365123474}" type="asst">
      <dgm:prSet phldrT="[Texto]" custT="1"/>
      <dgm:spPr/>
      <dgm:t>
        <a:bodyPr/>
        <a:lstStyle/>
        <a:p>
          <a:r>
            <a:rPr lang="es-PA" sz="1200" b="1" u="none" dirty="0">
              <a:latin typeface="Arial" panose="020B0604020202020204" pitchFamily="34" charset="0"/>
              <a:cs typeface="Arial" panose="020B0604020202020204" pitchFamily="34" charset="0"/>
            </a:rPr>
            <a:t>S.I.B.U: </a:t>
          </a:r>
          <a:r>
            <a:rPr lang="es-PA" sz="1200" dirty="0">
              <a:latin typeface="Arial" panose="020B0604020202020204" pitchFamily="34" charset="0"/>
              <a:cs typeface="Arial" panose="020B0604020202020204" pitchFamily="34" charset="0"/>
            </a:rPr>
            <a:t>Sistema de Pase de Buques (in-</a:t>
          </a:r>
          <a:r>
            <a:rPr lang="es-PA" sz="1200" dirty="0" err="1">
              <a:latin typeface="Arial" panose="020B0604020202020204" pitchFamily="34" charset="0"/>
              <a:cs typeface="Arial" panose="020B0604020202020204" pitchFamily="34" charset="0"/>
            </a:rPr>
            <a:t>house</a:t>
          </a:r>
          <a:r>
            <a:rPr lang="es-PA" sz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</a:p>
      </dgm:t>
    </dgm:pt>
    <dgm:pt modelId="{36768DEB-6025-4E56-9B95-BE7D91449C01}" type="parTrans" cxnId="{0CE20AA1-A1B8-4048-B11C-C392EBED2898}">
      <dgm:prSet/>
      <dgm:spPr/>
      <dgm:t>
        <a:bodyPr/>
        <a:lstStyle/>
        <a:p>
          <a:endParaRPr lang="es-PA"/>
        </a:p>
      </dgm:t>
    </dgm:pt>
    <dgm:pt modelId="{EC099DE9-6803-4C2F-96D5-B238C0F3D9F6}" type="sibTrans" cxnId="{0CE20AA1-A1B8-4048-B11C-C392EBED2898}">
      <dgm:prSet/>
      <dgm:spPr/>
      <dgm:t>
        <a:bodyPr/>
        <a:lstStyle/>
        <a:p>
          <a:endParaRPr lang="es-PA"/>
        </a:p>
      </dgm:t>
    </dgm:pt>
    <dgm:pt modelId="{4741F402-743C-4D97-93E7-D57679E271DD}">
      <dgm:prSet phldrT="[Texto]" custT="1"/>
      <dgm:spPr/>
      <dgm:t>
        <a:bodyPr/>
        <a:lstStyle/>
        <a:p>
          <a:r>
            <a:rPr lang="es-PA" sz="1200" b="1" u="none" dirty="0">
              <a:latin typeface="Arial" panose="020B0604020202020204" pitchFamily="34" charset="0"/>
              <a:cs typeface="Arial" panose="020B0604020202020204" pitchFamily="34" charset="0"/>
            </a:rPr>
            <a:t>Bio Time: </a:t>
          </a:r>
          <a:r>
            <a:rPr lang="es-PA" sz="1200" u="none" dirty="0">
              <a:latin typeface="Arial" panose="020B0604020202020204" pitchFamily="34" charset="0"/>
              <a:cs typeface="Arial" panose="020B0604020202020204" pitchFamily="34" charset="0"/>
            </a:rPr>
            <a:t>Sistema de Marcación de Huellas </a:t>
          </a:r>
        </a:p>
      </dgm:t>
    </dgm:pt>
    <dgm:pt modelId="{0E4AEAD5-F4E6-4659-9111-D5302324EFC1}" type="parTrans" cxnId="{7A4B77BB-E43A-4992-A7A8-FFFCB6EABDCC}">
      <dgm:prSet/>
      <dgm:spPr/>
      <dgm:t>
        <a:bodyPr/>
        <a:lstStyle/>
        <a:p>
          <a:endParaRPr lang="es-PA"/>
        </a:p>
      </dgm:t>
    </dgm:pt>
    <dgm:pt modelId="{DB97A678-D62B-4CB9-81F0-6604217987DC}" type="sibTrans" cxnId="{7A4B77BB-E43A-4992-A7A8-FFFCB6EABDCC}">
      <dgm:prSet/>
      <dgm:spPr/>
      <dgm:t>
        <a:bodyPr/>
        <a:lstStyle/>
        <a:p>
          <a:endParaRPr lang="es-PA"/>
        </a:p>
      </dgm:t>
    </dgm:pt>
    <dgm:pt modelId="{47E806D4-251F-4D98-A6E5-1DBCBA76F868}">
      <dgm:prSet phldrT="[Texto]" custT="1"/>
      <dgm:spPr/>
      <dgm:t>
        <a:bodyPr/>
        <a:lstStyle/>
        <a:p>
          <a:r>
            <a:rPr lang="es-PA" sz="1200" b="1" u="none" dirty="0">
              <a:latin typeface="Arial" panose="020B0604020202020204" pitchFamily="34" charset="0"/>
              <a:cs typeface="Arial" panose="020B0604020202020204" pitchFamily="34" charset="0"/>
            </a:rPr>
            <a:t>Mesa de ayuda </a:t>
          </a:r>
          <a:r>
            <a:rPr lang="es-PA" sz="1200" u="none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s-PA" sz="1200" u="none" dirty="0" err="1">
              <a:latin typeface="Arial" panose="020B0604020202020204" pitchFamily="34" charset="0"/>
              <a:cs typeface="Arial" panose="020B0604020202020204" pitchFamily="34" charset="0"/>
            </a:rPr>
            <a:t>Heldesk</a:t>
          </a:r>
          <a:r>
            <a:rPr lang="es-PA" sz="1200" u="none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s-PA" sz="1200" u="none" dirty="0"/>
        </a:p>
      </dgm:t>
    </dgm:pt>
    <dgm:pt modelId="{995B4707-27A9-4BCD-A5FA-911685D23BDD}" type="parTrans" cxnId="{DED18847-7D3E-448D-B085-0DA2884D6B23}">
      <dgm:prSet/>
      <dgm:spPr/>
      <dgm:t>
        <a:bodyPr/>
        <a:lstStyle/>
        <a:p>
          <a:endParaRPr lang="es-PA"/>
        </a:p>
      </dgm:t>
    </dgm:pt>
    <dgm:pt modelId="{B5EE73C8-5B81-48E9-ACDF-0AEBB3DF0ECF}" type="sibTrans" cxnId="{DED18847-7D3E-448D-B085-0DA2884D6B23}">
      <dgm:prSet/>
      <dgm:spPr/>
      <dgm:t>
        <a:bodyPr/>
        <a:lstStyle/>
        <a:p>
          <a:endParaRPr lang="es-PA"/>
        </a:p>
      </dgm:t>
    </dgm:pt>
    <dgm:pt modelId="{9B2B4BEB-B9CA-4E72-BD01-E43EFF28EE4B}">
      <dgm:prSet phldrT="[Texto]" custT="1"/>
      <dgm:spPr/>
      <dgm:t>
        <a:bodyPr/>
        <a:lstStyle/>
        <a:p>
          <a:r>
            <a:rPr lang="es-PA" sz="1200" u="none" dirty="0">
              <a:latin typeface="Arial" panose="020B0604020202020204" pitchFamily="34" charset="0"/>
              <a:cs typeface="Arial" panose="020B0604020202020204" pitchFamily="34" charset="0"/>
            </a:rPr>
            <a:t>Sistemas de Correspondencia (in-</a:t>
          </a:r>
          <a:r>
            <a:rPr lang="es-PA" sz="1200" u="none" dirty="0" err="1">
              <a:latin typeface="Arial" panose="020B0604020202020204" pitchFamily="34" charset="0"/>
              <a:cs typeface="Arial" panose="020B0604020202020204" pitchFamily="34" charset="0"/>
            </a:rPr>
            <a:t>house</a:t>
          </a:r>
          <a:r>
            <a:rPr lang="es-PA" sz="1200" u="none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s-PA" sz="1200" u="none" dirty="0"/>
        </a:p>
      </dgm:t>
    </dgm:pt>
    <dgm:pt modelId="{D0ED586C-659D-4AB5-8DAC-C9AE48D65268}" type="parTrans" cxnId="{7F285065-429C-4CA7-A2B5-590C0B9E121D}">
      <dgm:prSet/>
      <dgm:spPr/>
      <dgm:t>
        <a:bodyPr/>
        <a:lstStyle/>
        <a:p>
          <a:endParaRPr lang="es-PA"/>
        </a:p>
      </dgm:t>
    </dgm:pt>
    <dgm:pt modelId="{1F2B4E7A-7E7D-4033-A148-C2056F8836F9}" type="sibTrans" cxnId="{7F285065-429C-4CA7-A2B5-590C0B9E121D}">
      <dgm:prSet/>
      <dgm:spPr/>
      <dgm:t>
        <a:bodyPr/>
        <a:lstStyle/>
        <a:p>
          <a:endParaRPr lang="es-PA"/>
        </a:p>
      </dgm:t>
    </dgm:pt>
    <dgm:pt modelId="{CAD23CBF-3CBD-40E0-A2A3-7BFB4E309CD6}">
      <dgm:prSet custT="1"/>
      <dgm:spPr/>
      <dgm:t>
        <a:bodyPr/>
        <a:lstStyle/>
        <a:p>
          <a:r>
            <a:rPr lang="es-PA" sz="1200" u="none" dirty="0">
              <a:latin typeface="Arial" panose="020B0604020202020204" pitchFamily="34" charset="0"/>
              <a:cs typeface="Arial" panose="020B0604020202020204" pitchFamily="34" charset="0"/>
            </a:rPr>
            <a:t>Sistemas de impresión de carnés</a:t>
          </a:r>
          <a:endParaRPr lang="es-PA" sz="1200" u="none" dirty="0"/>
        </a:p>
      </dgm:t>
    </dgm:pt>
    <dgm:pt modelId="{D4D95170-EE06-4687-9669-52C356E42595}" type="parTrans" cxnId="{CB19560C-ED2F-4FAA-8B28-912EE27D0116}">
      <dgm:prSet/>
      <dgm:spPr/>
      <dgm:t>
        <a:bodyPr/>
        <a:lstStyle/>
        <a:p>
          <a:endParaRPr lang="es-PA"/>
        </a:p>
      </dgm:t>
    </dgm:pt>
    <dgm:pt modelId="{68E4A792-BBEF-448E-A69B-72149ABF0833}" type="sibTrans" cxnId="{CB19560C-ED2F-4FAA-8B28-912EE27D0116}">
      <dgm:prSet/>
      <dgm:spPr/>
      <dgm:t>
        <a:bodyPr/>
        <a:lstStyle/>
        <a:p>
          <a:endParaRPr lang="es-PA"/>
        </a:p>
      </dgm:t>
    </dgm:pt>
    <dgm:pt modelId="{B6245B77-B15A-40A9-961B-0731917FAB6D}" type="asst">
      <dgm:prSet custT="1"/>
      <dgm:spPr/>
      <dgm:t>
        <a:bodyPr/>
        <a:lstStyle/>
        <a:p>
          <a:r>
            <a:rPr lang="es-PA" sz="1400" b="1" u="none" dirty="0">
              <a:latin typeface="Arial" panose="020B0604020202020204" pitchFamily="34" charset="0"/>
              <a:cs typeface="Arial" panose="020B0604020202020204" pitchFamily="34" charset="0"/>
            </a:rPr>
            <a:t>S.G.A: </a:t>
          </a:r>
          <a:r>
            <a:rPr lang="es-PA" sz="1400" b="0" u="none" dirty="0">
              <a:latin typeface="Arial" panose="020B0604020202020204" pitchFamily="34" charset="0"/>
              <a:cs typeface="Arial" panose="020B0604020202020204" pitchFamily="34" charset="0"/>
            </a:rPr>
            <a:t>Sistema General de </a:t>
          </a:r>
          <a:r>
            <a:rPr lang="es-PA" sz="1200" b="0" u="none" dirty="0">
              <a:latin typeface="Arial" panose="020B0604020202020204" pitchFamily="34" charset="0"/>
              <a:cs typeface="Arial" panose="020B0604020202020204" pitchFamily="34" charset="0"/>
            </a:rPr>
            <a:t>Armas</a:t>
          </a:r>
          <a:r>
            <a:rPr lang="es-PA" sz="1400" b="0" u="none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s-PA" sz="1400" b="0" u="none" dirty="0"/>
        </a:p>
      </dgm:t>
    </dgm:pt>
    <dgm:pt modelId="{E59CB8DE-318B-460E-AAB3-6841782C1FAE}" type="parTrans" cxnId="{8EAC9399-66A3-42B8-A5B4-12864C38C0CD}">
      <dgm:prSet/>
      <dgm:spPr/>
      <dgm:t>
        <a:bodyPr/>
        <a:lstStyle/>
        <a:p>
          <a:endParaRPr lang="es-PA"/>
        </a:p>
      </dgm:t>
    </dgm:pt>
    <dgm:pt modelId="{BA118A92-220D-4725-B996-AD8C44F61920}" type="sibTrans" cxnId="{8EAC9399-66A3-42B8-A5B4-12864C38C0CD}">
      <dgm:prSet/>
      <dgm:spPr/>
      <dgm:t>
        <a:bodyPr/>
        <a:lstStyle/>
        <a:p>
          <a:endParaRPr lang="es-PA"/>
        </a:p>
      </dgm:t>
    </dgm:pt>
    <dgm:pt modelId="{8609F833-FBDF-43D0-9EF2-F42D4F32CCB7}" type="pres">
      <dgm:prSet presAssocID="{96101268-16CC-4718-B30D-7C8ED516943F}" presName="Name0" presStyleCnt="0">
        <dgm:presLayoutVars>
          <dgm:dir/>
        </dgm:presLayoutVars>
      </dgm:prSet>
      <dgm:spPr/>
    </dgm:pt>
    <dgm:pt modelId="{BDF67C99-E8BB-4373-BF2C-86735F8B0283}" type="pres">
      <dgm:prSet presAssocID="{CB3E5F43-707D-481F-850B-390BD08C2DEF}" presName="withChildren" presStyleCnt="0"/>
      <dgm:spPr/>
    </dgm:pt>
    <dgm:pt modelId="{BE77866C-65DE-4B8A-9DD4-39F832D6CD0D}" type="pres">
      <dgm:prSet presAssocID="{CB3E5F43-707D-481F-850B-390BD08C2DEF}" presName="bigCircle" presStyleLbl="vennNode1" presStyleIdx="0" presStyleCnt="7" custScaleX="112502"/>
      <dgm:spPr/>
    </dgm:pt>
    <dgm:pt modelId="{0A5B8D8B-3A19-47A5-B2C0-FB21A91AA3D0}" type="pres">
      <dgm:prSet presAssocID="{CB3E5F43-707D-481F-850B-390BD08C2DEF}" presName="medCircle" presStyleLbl="vennNode1" presStyleIdx="1" presStyleCnt="7"/>
      <dgm:spPr/>
    </dgm:pt>
    <dgm:pt modelId="{4DCAE415-24BA-4259-9FDB-EAA044A62C8C}" type="pres">
      <dgm:prSet presAssocID="{CB3E5F43-707D-481F-850B-390BD08C2DEF}" presName="txLvl1" presStyleLbl="revTx" presStyleIdx="0" presStyleCnt="7"/>
      <dgm:spPr/>
    </dgm:pt>
    <dgm:pt modelId="{6A0D07FB-A48E-491B-8D8D-8C572A34B467}" type="pres">
      <dgm:prSet presAssocID="{CB3E5F43-707D-481F-850B-390BD08C2DEF}" presName="lin" presStyleCnt="0"/>
      <dgm:spPr/>
    </dgm:pt>
    <dgm:pt modelId="{F7F7AD99-C84D-4A96-B451-0CF070CF11CC}" type="pres">
      <dgm:prSet presAssocID="{7D323545-8C65-4808-B717-4DA365123474}" presName="txLvl2" presStyleLbl="revTx" presStyleIdx="1" presStyleCnt="7"/>
      <dgm:spPr/>
    </dgm:pt>
    <dgm:pt modelId="{45C5A3AB-3CB7-4115-9F34-E635E270B785}" type="pres">
      <dgm:prSet presAssocID="{EC099DE9-6803-4C2F-96D5-B238C0F3D9F6}" presName="smCircle" presStyleLbl="vennNode1" presStyleIdx="2" presStyleCnt="7"/>
      <dgm:spPr/>
    </dgm:pt>
    <dgm:pt modelId="{7F79F808-39A4-4B35-804E-4BD52E040C31}" type="pres">
      <dgm:prSet presAssocID="{4741F402-743C-4D97-93E7-D57679E271DD}" presName="txLvl2" presStyleLbl="revTx" presStyleIdx="2" presStyleCnt="7"/>
      <dgm:spPr/>
    </dgm:pt>
    <dgm:pt modelId="{BE87B62B-85BE-483C-8E6F-4F5A6D33FA84}" type="pres">
      <dgm:prSet presAssocID="{DB97A678-D62B-4CB9-81F0-6604217987DC}" presName="smCircle" presStyleLbl="vennNode1" presStyleIdx="3" presStyleCnt="7"/>
      <dgm:spPr/>
    </dgm:pt>
    <dgm:pt modelId="{7F7DB8D5-FBD5-49F1-86AA-E076507D3509}" type="pres">
      <dgm:prSet presAssocID="{47E806D4-251F-4D98-A6E5-1DBCBA76F868}" presName="txLvl2" presStyleLbl="revTx" presStyleIdx="3" presStyleCnt="7"/>
      <dgm:spPr/>
    </dgm:pt>
    <dgm:pt modelId="{01FCED97-271F-4C71-959A-88CC8FD705AE}" type="pres">
      <dgm:prSet presAssocID="{B5EE73C8-5B81-48E9-ACDF-0AEBB3DF0ECF}" presName="smCircle" presStyleLbl="vennNode1" presStyleIdx="4" presStyleCnt="7"/>
      <dgm:spPr/>
    </dgm:pt>
    <dgm:pt modelId="{96EBD7EB-21FE-4B43-9585-5A817777551A}" type="pres">
      <dgm:prSet presAssocID="{9B2B4BEB-B9CA-4E72-BD01-E43EFF28EE4B}" presName="txLvl2" presStyleLbl="revTx" presStyleIdx="4" presStyleCnt="7"/>
      <dgm:spPr/>
    </dgm:pt>
    <dgm:pt modelId="{1DD6F1C0-8618-4C75-AD37-D9917560F2DD}" type="pres">
      <dgm:prSet presAssocID="{1F2B4E7A-7E7D-4033-A148-C2056F8836F9}" presName="smCircle" presStyleLbl="vennNode1" presStyleIdx="5" presStyleCnt="7"/>
      <dgm:spPr/>
    </dgm:pt>
    <dgm:pt modelId="{C23BC9A3-ACFB-4B48-BCC8-DC93F1A1B4EC}" type="pres">
      <dgm:prSet presAssocID="{CAD23CBF-3CBD-40E0-A2A3-7BFB4E309CD6}" presName="txLvl2" presStyleLbl="revTx" presStyleIdx="5" presStyleCnt="7"/>
      <dgm:spPr/>
    </dgm:pt>
    <dgm:pt modelId="{445C5680-1DAF-4D3A-AD4B-02840CB6A351}" type="pres">
      <dgm:prSet presAssocID="{68E4A792-BBEF-448E-A69B-72149ABF0833}" presName="smCircle" presStyleLbl="vennNode1" presStyleIdx="6" presStyleCnt="7"/>
      <dgm:spPr/>
    </dgm:pt>
    <dgm:pt modelId="{CA9CD818-50F2-4E66-B585-5B36EFB75822}" type="pres">
      <dgm:prSet presAssocID="{B6245B77-B15A-40A9-961B-0731917FAB6D}" presName="txLvl2" presStyleLbl="revTx" presStyleIdx="6" presStyleCnt="7"/>
      <dgm:spPr/>
    </dgm:pt>
  </dgm:ptLst>
  <dgm:cxnLst>
    <dgm:cxn modelId="{CB19560C-ED2F-4FAA-8B28-912EE27D0116}" srcId="{CB3E5F43-707D-481F-850B-390BD08C2DEF}" destId="{CAD23CBF-3CBD-40E0-A2A3-7BFB4E309CD6}" srcOrd="4" destOrd="0" parTransId="{D4D95170-EE06-4687-9669-52C356E42595}" sibTransId="{68E4A792-BBEF-448E-A69B-72149ABF0833}"/>
    <dgm:cxn modelId="{37ED292F-76BD-4A59-A119-20A5BC744D2E}" type="presOf" srcId="{CAD23CBF-3CBD-40E0-A2A3-7BFB4E309CD6}" destId="{C23BC9A3-ACFB-4B48-BCC8-DC93F1A1B4EC}" srcOrd="0" destOrd="0" presId="urn:microsoft.com/office/officeart/2008/layout/VerticalCircleList"/>
    <dgm:cxn modelId="{82528133-ACB2-4DAC-AE11-1F582BA3AAE2}" srcId="{96101268-16CC-4718-B30D-7C8ED516943F}" destId="{CB3E5F43-707D-481F-850B-390BD08C2DEF}" srcOrd="0" destOrd="0" parTransId="{8BEAA481-3559-411A-AA56-FC5516DBAD89}" sibTransId="{A0D68263-D70F-4F38-ABB1-4EF5325B1E8D}"/>
    <dgm:cxn modelId="{7F285065-429C-4CA7-A2B5-590C0B9E121D}" srcId="{CB3E5F43-707D-481F-850B-390BD08C2DEF}" destId="{9B2B4BEB-B9CA-4E72-BD01-E43EFF28EE4B}" srcOrd="3" destOrd="0" parTransId="{D0ED586C-659D-4AB5-8DAC-C9AE48D65268}" sibTransId="{1F2B4E7A-7E7D-4033-A148-C2056F8836F9}"/>
    <dgm:cxn modelId="{DED18847-7D3E-448D-B085-0DA2884D6B23}" srcId="{CB3E5F43-707D-481F-850B-390BD08C2DEF}" destId="{47E806D4-251F-4D98-A6E5-1DBCBA76F868}" srcOrd="2" destOrd="0" parTransId="{995B4707-27A9-4BCD-A5FA-911685D23BDD}" sibTransId="{B5EE73C8-5B81-48E9-ACDF-0AEBB3DF0ECF}"/>
    <dgm:cxn modelId="{8EAC9399-66A3-42B8-A5B4-12864C38C0CD}" srcId="{CB3E5F43-707D-481F-850B-390BD08C2DEF}" destId="{B6245B77-B15A-40A9-961B-0731917FAB6D}" srcOrd="5" destOrd="0" parTransId="{E59CB8DE-318B-460E-AAB3-6841782C1FAE}" sibTransId="{BA118A92-220D-4725-B996-AD8C44F61920}"/>
    <dgm:cxn modelId="{A6BC699C-5451-43E8-83C6-2DD9D6C79DAD}" type="presOf" srcId="{7D323545-8C65-4808-B717-4DA365123474}" destId="{F7F7AD99-C84D-4A96-B451-0CF070CF11CC}" srcOrd="0" destOrd="0" presId="urn:microsoft.com/office/officeart/2008/layout/VerticalCircleList"/>
    <dgm:cxn modelId="{1554B09C-633F-4546-8DF0-3A377F94BEC0}" type="presOf" srcId="{CB3E5F43-707D-481F-850B-390BD08C2DEF}" destId="{4DCAE415-24BA-4259-9FDB-EAA044A62C8C}" srcOrd="0" destOrd="0" presId="urn:microsoft.com/office/officeart/2008/layout/VerticalCircleList"/>
    <dgm:cxn modelId="{0CE20AA1-A1B8-4048-B11C-C392EBED2898}" srcId="{CB3E5F43-707D-481F-850B-390BD08C2DEF}" destId="{7D323545-8C65-4808-B717-4DA365123474}" srcOrd="0" destOrd="0" parTransId="{36768DEB-6025-4E56-9B95-BE7D91449C01}" sibTransId="{EC099DE9-6803-4C2F-96D5-B238C0F3D9F6}"/>
    <dgm:cxn modelId="{7A4B77BB-E43A-4992-A7A8-FFFCB6EABDCC}" srcId="{CB3E5F43-707D-481F-850B-390BD08C2DEF}" destId="{4741F402-743C-4D97-93E7-D57679E271DD}" srcOrd="1" destOrd="0" parTransId="{0E4AEAD5-F4E6-4659-9111-D5302324EFC1}" sibTransId="{DB97A678-D62B-4CB9-81F0-6604217987DC}"/>
    <dgm:cxn modelId="{D0AB35C1-25DF-4676-8E26-2561A6466B71}" type="presOf" srcId="{9B2B4BEB-B9CA-4E72-BD01-E43EFF28EE4B}" destId="{96EBD7EB-21FE-4B43-9585-5A817777551A}" srcOrd="0" destOrd="0" presId="urn:microsoft.com/office/officeart/2008/layout/VerticalCircleList"/>
    <dgm:cxn modelId="{D7EA11C6-77B6-4FD5-A826-673AF9EBAAEF}" type="presOf" srcId="{B6245B77-B15A-40A9-961B-0731917FAB6D}" destId="{CA9CD818-50F2-4E66-B585-5B36EFB75822}" srcOrd="0" destOrd="0" presId="urn:microsoft.com/office/officeart/2008/layout/VerticalCircleList"/>
    <dgm:cxn modelId="{F726E4D2-B165-4445-8860-7684838FE44F}" type="presOf" srcId="{96101268-16CC-4718-B30D-7C8ED516943F}" destId="{8609F833-FBDF-43D0-9EF2-F42D4F32CCB7}" srcOrd="0" destOrd="0" presId="urn:microsoft.com/office/officeart/2008/layout/VerticalCircleList"/>
    <dgm:cxn modelId="{2AF50BFB-9015-4041-B885-A3ABBA83B960}" type="presOf" srcId="{4741F402-743C-4D97-93E7-D57679E271DD}" destId="{7F79F808-39A4-4B35-804E-4BD52E040C31}" srcOrd="0" destOrd="0" presId="urn:microsoft.com/office/officeart/2008/layout/VerticalCircleList"/>
    <dgm:cxn modelId="{B2C2BDFE-32FE-4528-B10C-E8B608D86158}" type="presOf" srcId="{47E806D4-251F-4D98-A6E5-1DBCBA76F868}" destId="{7F7DB8D5-FBD5-49F1-86AA-E076507D3509}" srcOrd="0" destOrd="0" presId="urn:microsoft.com/office/officeart/2008/layout/VerticalCircleList"/>
    <dgm:cxn modelId="{20982040-862F-48BA-AAAE-4CDB20FC2244}" type="presParOf" srcId="{8609F833-FBDF-43D0-9EF2-F42D4F32CCB7}" destId="{BDF67C99-E8BB-4373-BF2C-86735F8B0283}" srcOrd="0" destOrd="0" presId="urn:microsoft.com/office/officeart/2008/layout/VerticalCircleList"/>
    <dgm:cxn modelId="{92C6BF99-16D9-4C08-92C8-EDC7B02A134C}" type="presParOf" srcId="{BDF67C99-E8BB-4373-BF2C-86735F8B0283}" destId="{BE77866C-65DE-4B8A-9DD4-39F832D6CD0D}" srcOrd="0" destOrd="0" presId="urn:microsoft.com/office/officeart/2008/layout/VerticalCircleList"/>
    <dgm:cxn modelId="{BCF7198A-7E78-4DB7-B0D6-A6A37D197145}" type="presParOf" srcId="{BDF67C99-E8BB-4373-BF2C-86735F8B0283}" destId="{0A5B8D8B-3A19-47A5-B2C0-FB21A91AA3D0}" srcOrd="1" destOrd="0" presId="urn:microsoft.com/office/officeart/2008/layout/VerticalCircleList"/>
    <dgm:cxn modelId="{8CD89200-EEA7-408C-A0F2-F9F8121901E2}" type="presParOf" srcId="{BDF67C99-E8BB-4373-BF2C-86735F8B0283}" destId="{4DCAE415-24BA-4259-9FDB-EAA044A62C8C}" srcOrd="2" destOrd="0" presId="urn:microsoft.com/office/officeart/2008/layout/VerticalCircleList"/>
    <dgm:cxn modelId="{61A24E0E-DB26-4EFF-B7DE-0140193ECDAA}" type="presParOf" srcId="{BDF67C99-E8BB-4373-BF2C-86735F8B0283}" destId="{6A0D07FB-A48E-491B-8D8D-8C572A34B467}" srcOrd="3" destOrd="0" presId="urn:microsoft.com/office/officeart/2008/layout/VerticalCircleList"/>
    <dgm:cxn modelId="{B024B760-9393-4EC8-86BF-E452CB7ABAE8}" type="presParOf" srcId="{6A0D07FB-A48E-491B-8D8D-8C572A34B467}" destId="{F7F7AD99-C84D-4A96-B451-0CF070CF11CC}" srcOrd="0" destOrd="0" presId="urn:microsoft.com/office/officeart/2008/layout/VerticalCircleList"/>
    <dgm:cxn modelId="{794E1476-5BCE-4F10-AFE7-494E0E165BD4}" type="presParOf" srcId="{6A0D07FB-A48E-491B-8D8D-8C572A34B467}" destId="{45C5A3AB-3CB7-4115-9F34-E635E270B785}" srcOrd="1" destOrd="0" presId="urn:microsoft.com/office/officeart/2008/layout/VerticalCircleList"/>
    <dgm:cxn modelId="{7D3829ED-8B96-4245-91FA-459FD7B363BD}" type="presParOf" srcId="{6A0D07FB-A48E-491B-8D8D-8C572A34B467}" destId="{7F79F808-39A4-4B35-804E-4BD52E040C31}" srcOrd="2" destOrd="0" presId="urn:microsoft.com/office/officeart/2008/layout/VerticalCircleList"/>
    <dgm:cxn modelId="{82E70967-9797-4393-ABA0-BD5971B10D14}" type="presParOf" srcId="{6A0D07FB-A48E-491B-8D8D-8C572A34B467}" destId="{BE87B62B-85BE-483C-8E6F-4F5A6D33FA84}" srcOrd="3" destOrd="0" presId="urn:microsoft.com/office/officeart/2008/layout/VerticalCircleList"/>
    <dgm:cxn modelId="{84F1CCAE-0288-4751-9C02-E5EA518EDE6A}" type="presParOf" srcId="{6A0D07FB-A48E-491B-8D8D-8C572A34B467}" destId="{7F7DB8D5-FBD5-49F1-86AA-E076507D3509}" srcOrd="4" destOrd="0" presId="urn:microsoft.com/office/officeart/2008/layout/VerticalCircleList"/>
    <dgm:cxn modelId="{01655ED3-BFE6-43E4-8450-45D587DA2EB8}" type="presParOf" srcId="{6A0D07FB-A48E-491B-8D8D-8C572A34B467}" destId="{01FCED97-271F-4C71-959A-88CC8FD705AE}" srcOrd="5" destOrd="0" presId="urn:microsoft.com/office/officeart/2008/layout/VerticalCircleList"/>
    <dgm:cxn modelId="{5E444B33-910F-4D5E-8A18-A392C16225AC}" type="presParOf" srcId="{6A0D07FB-A48E-491B-8D8D-8C572A34B467}" destId="{96EBD7EB-21FE-4B43-9585-5A817777551A}" srcOrd="6" destOrd="0" presId="urn:microsoft.com/office/officeart/2008/layout/VerticalCircleList"/>
    <dgm:cxn modelId="{2FF031B7-6504-4DD1-A406-88B730E8030E}" type="presParOf" srcId="{6A0D07FB-A48E-491B-8D8D-8C572A34B467}" destId="{1DD6F1C0-8618-4C75-AD37-D9917560F2DD}" srcOrd="7" destOrd="0" presId="urn:microsoft.com/office/officeart/2008/layout/VerticalCircleList"/>
    <dgm:cxn modelId="{982CEDA0-D663-4AC4-A840-F15F00E099D6}" type="presParOf" srcId="{6A0D07FB-A48E-491B-8D8D-8C572A34B467}" destId="{C23BC9A3-ACFB-4B48-BCC8-DC93F1A1B4EC}" srcOrd="8" destOrd="0" presId="urn:microsoft.com/office/officeart/2008/layout/VerticalCircleList"/>
    <dgm:cxn modelId="{7AFA3D76-CD3C-4643-B668-59E14CF7A127}" type="presParOf" srcId="{6A0D07FB-A48E-491B-8D8D-8C572A34B467}" destId="{445C5680-1DAF-4D3A-AD4B-02840CB6A351}" srcOrd="9" destOrd="0" presId="urn:microsoft.com/office/officeart/2008/layout/VerticalCircleList"/>
    <dgm:cxn modelId="{BC7C8E14-BF53-4368-87B0-7EFD7D2193F6}" type="presParOf" srcId="{6A0D07FB-A48E-491B-8D8D-8C572A34B467}" destId="{CA9CD818-50F2-4E66-B585-5B36EFB75822}" srcOrd="10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77866C-65DE-4B8A-9DD4-39F832D6CD0D}">
      <dsp:nvSpPr>
        <dsp:cNvPr id="0" name=""/>
        <dsp:cNvSpPr/>
      </dsp:nvSpPr>
      <dsp:spPr>
        <a:xfrm>
          <a:off x="1856788" y="3281"/>
          <a:ext cx="4448861" cy="3954473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A5B8D8B-3A19-47A5-B2C0-FB21A91AA3D0}">
      <dsp:nvSpPr>
        <dsp:cNvPr id="0" name=""/>
        <dsp:cNvSpPr/>
      </dsp:nvSpPr>
      <dsp:spPr>
        <a:xfrm>
          <a:off x="2291048" y="169369"/>
          <a:ext cx="711805" cy="711805"/>
        </a:xfrm>
        <a:prstGeom prst="ellipse">
          <a:avLst/>
        </a:prstGeom>
        <a:solidFill>
          <a:schemeClr val="accent5">
            <a:alpha val="50000"/>
            <a:hueOff val="-3071576"/>
            <a:satOff val="3438"/>
            <a:lumOff val="196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DCAE415-24BA-4259-9FDB-EAA044A62C8C}">
      <dsp:nvSpPr>
        <dsp:cNvPr id="0" name=""/>
        <dsp:cNvSpPr/>
      </dsp:nvSpPr>
      <dsp:spPr>
        <a:xfrm>
          <a:off x="2646950" y="169369"/>
          <a:ext cx="3807388" cy="7118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A" sz="1200" b="1" kern="1200" dirty="0">
              <a:latin typeface="Arial" panose="020B0604020202020204" pitchFamily="34" charset="0"/>
              <a:cs typeface="Arial" panose="020B0604020202020204" pitchFamily="34" charset="0"/>
            </a:rPr>
            <a:t>Aplicativos existentes del M.I.N.S.E.G</a:t>
          </a:r>
          <a:endParaRPr lang="es-PA" sz="1200" kern="1200" dirty="0"/>
        </a:p>
      </dsp:txBody>
      <dsp:txXfrm>
        <a:off x="2646950" y="169369"/>
        <a:ext cx="3807388" cy="711805"/>
      </dsp:txXfrm>
    </dsp:sp>
    <dsp:sp modelId="{F7F7AD99-C84D-4A96-B451-0CF070CF11CC}">
      <dsp:nvSpPr>
        <dsp:cNvPr id="0" name=""/>
        <dsp:cNvSpPr/>
      </dsp:nvSpPr>
      <dsp:spPr>
        <a:xfrm>
          <a:off x="2646950" y="881174"/>
          <a:ext cx="3807388" cy="338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A" sz="1200" b="1" u="none" kern="1200" dirty="0">
              <a:latin typeface="Arial" panose="020B0604020202020204" pitchFamily="34" charset="0"/>
              <a:cs typeface="Arial" panose="020B0604020202020204" pitchFamily="34" charset="0"/>
            </a:rPr>
            <a:t>S.I.B.U: </a:t>
          </a:r>
          <a:r>
            <a:rPr lang="es-PA" sz="1200" kern="1200" dirty="0">
              <a:latin typeface="Arial" panose="020B0604020202020204" pitchFamily="34" charset="0"/>
              <a:cs typeface="Arial" panose="020B0604020202020204" pitchFamily="34" charset="0"/>
            </a:rPr>
            <a:t>Sistema de Pase de Buques (in-</a:t>
          </a:r>
          <a:r>
            <a:rPr lang="es-PA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house</a:t>
          </a:r>
          <a:r>
            <a:rPr lang="es-PA" sz="12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</a:p>
      </dsp:txBody>
      <dsp:txXfrm>
        <a:off x="2646950" y="881174"/>
        <a:ext cx="3807388" cy="338056"/>
      </dsp:txXfrm>
    </dsp:sp>
    <dsp:sp modelId="{45C5A3AB-3CB7-4115-9F34-E635E270B785}">
      <dsp:nvSpPr>
        <dsp:cNvPr id="0" name=""/>
        <dsp:cNvSpPr/>
      </dsp:nvSpPr>
      <dsp:spPr>
        <a:xfrm>
          <a:off x="2646950" y="1219231"/>
          <a:ext cx="121353" cy="121353"/>
        </a:xfrm>
        <a:prstGeom prst="ellipse">
          <a:avLst/>
        </a:prstGeom>
        <a:solidFill>
          <a:schemeClr val="accent5">
            <a:alpha val="50000"/>
            <a:hueOff val="-6143153"/>
            <a:satOff val="6875"/>
            <a:lumOff val="392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F79F808-39A4-4B35-804E-4BD52E040C31}">
      <dsp:nvSpPr>
        <dsp:cNvPr id="0" name=""/>
        <dsp:cNvSpPr/>
      </dsp:nvSpPr>
      <dsp:spPr>
        <a:xfrm>
          <a:off x="2646950" y="1340585"/>
          <a:ext cx="3807388" cy="338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A" sz="1200" b="1" u="none" kern="1200" dirty="0">
              <a:latin typeface="Arial" panose="020B0604020202020204" pitchFamily="34" charset="0"/>
              <a:cs typeface="Arial" panose="020B0604020202020204" pitchFamily="34" charset="0"/>
            </a:rPr>
            <a:t>Bio Time: </a:t>
          </a:r>
          <a:r>
            <a:rPr lang="es-PA" sz="1200" u="none" kern="1200" dirty="0">
              <a:latin typeface="Arial" panose="020B0604020202020204" pitchFamily="34" charset="0"/>
              <a:cs typeface="Arial" panose="020B0604020202020204" pitchFamily="34" charset="0"/>
            </a:rPr>
            <a:t>Sistema de Marcación de Huellas </a:t>
          </a:r>
        </a:p>
      </dsp:txBody>
      <dsp:txXfrm>
        <a:off x="2646950" y="1340585"/>
        <a:ext cx="3807388" cy="338056"/>
      </dsp:txXfrm>
    </dsp:sp>
    <dsp:sp modelId="{BE87B62B-85BE-483C-8E6F-4F5A6D33FA84}">
      <dsp:nvSpPr>
        <dsp:cNvPr id="0" name=""/>
        <dsp:cNvSpPr/>
      </dsp:nvSpPr>
      <dsp:spPr>
        <a:xfrm>
          <a:off x="2646950" y="1678642"/>
          <a:ext cx="121353" cy="121353"/>
        </a:xfrm>
        <a:prstGeom prst="ellipse">
          <a:avLst/>
        </a:prstGeom>
        <a:solidFill>
          <a:schemeClr val="accent5">
            <a:alpha val="50000"/>
            <a:hueOff val="-9214729"/>
            <a:satOff val="10313"/>
            <a:lumOff val="589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F7DB8D5-FBD5-49F1-86AA-E076507D3509}">
      <dsp:nvSpPr>
        <dsp:cNvPr id="0" name=""/>
        <dsp:cNvSpPr/>
      </dsp:nvSpPr>
      <dsp:spPr>
        <a:xfrm>
          <a:off x="2646950" y="1799996"/>
          <a:ext cx="3807388" cy="338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A" sz="1200" b="1" u="none" kern="1200" dirty="0">
              <a:latin typeface="Arial" panose="020B0604020202020204" pitchFamily="34" charset="0"/>
              <a:cs typeface="Arial" panose="020B0604020202020204" pitchFamily="34" charset="0"/>
            </a:rPr>
            <a:t>Mesa de ayuda </a:t>
          </a:r>
          <a:r>
            <a:rPr lang="es-PA" sz="1200" u="none" kern="1200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s-PA" sz="1200" u="none" kern="1200" dirty="0" err="1">
              <a:latin typeface="Arial" panose="020B0604020202020204" pitchFamily="34" charset="0"/>
              <a:cs typeface="Arial" panose="020B0604020202020204" pitchFamily="34" charset="0"/>
            </a:rPr>
            <a:t>Heldesk</a:t>
          </a:r>
          <a:r>
            <a:rPr lang="es-PA" sz="1200" u="none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s-PA" sz="1200" u="none" kern="1200" dirty="0"/>
        </a:p>
      </dsp:txBody>
      <dsp:txXfrm>
        <a:off x="2646950" y="1799996"/>
        <a:ext cx="3807388" cy="338056"/>
      </dsp:txXfrm>
    </dsp:sp>
    <dsp:sp modelId="{01FCED97-271F-4C71-959A-88CC8FD705AE}">
      <dsp:nvSpPr>
        <dsp:cNvPr id="0" name=""/>
        <dsp:cNvSpPr/>
      </dsp:nvSpPr>
      <dsp:spPr>
        <a:xfrm>
          <a:off x="2646950" y="2138052"/>
          <a:ext cx="121353" cy="121353"/>
        </a:xfrm>
        <a:prstGeom prst="ellipse">
          <a:avLst/>
        </a:prstGeom>
        <a:solidFill>
          <a:schemeClr val="accent5">
            <a:alpha val="50000"/>
            <a:hueOff val="-12286306"/>
            <a:satOff val="13750"/>
            <a:lumOff val="785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6EBD7EB-21FE-4B43-9585-5A817777551A}">
      <dsp:nvSpPr>
        <dsp:cNvPr id="0" name=""/>
        <dsp:cNvSpPr/>
      </dsp:nvSpPr>
      <dsp:spPr>
        <a:xfrm>
          <a:off x="2646950" y="2259406"/>
          <a:ext cx="3807388" cy="338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A" sz="1200" u="none" kern="1200" dirty="0">
              <a:latin typeface="Arial" panose="020B0604020202020204" pitchFamily="34" charset="0"/>
              <a:cs typeface="Arial" panose="020B0604020202020204" pitchFamily="34" charset="0"/>
            </a:rPr>
            <a:t>Sistemas de Correspondencia (in-</a:t>
          </a:r>
          <a:r>
            <a:rPr lang="es-PA" sz="1200" u="none" kern="1200" dirty="0" err="1">
              <a:latin typeface="Arial" panose="020B0604020202020204" pitchFamily="34" charset="0"/>
              <a:cs typeface="Arial" panose="020B0604020202020204" pitchFamily="34" charset="0"/>
            </a:rPr>
            <a:t>house</a:t>
          </a:r>
          <a:r>
            <a:rPr lang="es-PA" sz="1200" u="none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s-PA" sz="1200" u="none" kern="1200" dirty="0"/>
        </a:p>
      </dsp:txBody>
      <dsp:txXfrm>
        <a:off x="2646950" y="2259406"/>
        <a:ext cx="3807388" cy="338056"/>
      </dsp:txXfrm>
    </dsp:sp>
    <dsp:sp modelId="{1DD6F1C0-8618-4C75-AD37-D9917560F2DD}">
      <dsp:nvSpPr>
        <dsp:cNvPr id="0" name=""/>
        <dsp:cNvSpPr/>
      </dsp:nvSpPr>
      <dsp:spPr>
        <a:xfrm>
          <a:off x="2646950" y="2597463"/>
          <a:ext cx="121353" cy="121353"/>
        </a:xfrm>
        <a:prstGeom prst="ellipse">
          <a:avLst/>
        </a:prstGeom>
        <a:solidFill>
          <a:schemeClr val="accent5">
            <a:alpha val="50000"/>
            <a:hueOff val="-15357881"/>
            <a:satOff val="17188"/>
            <a:lumOff val="981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23BC9A3-ACFB-4B48-BCC8-DC93F1A1B4EC}">
      <dsp:nvSpPr>
        <dsp:cNvPr id="0" name=""/>
        <dsp:cNvSpPr/>
      </dsp:nvSpPr>
      <dsp:spPr>
        <a:xfrm>
          <a:off x="2646950" y="2718817"/>
          <a:ext cx="3807388" cy="338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" rIns="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A" sz="1200" u="none" kern="1200" dirty="0">
              <a:latin typeface="Arial" panose="020B0604020202020204" pitchFamily="34" charset="0"/>
              <a:cs typeface="Arial" panose="020B0604020202020204" pitchFamily="34" charset="0"/>
            </a:rPr>
            <a:t>Sistemas de impresión de carnés</a:t>
          </a:r>
          <a:endParaRPr lang="es-PA" sz="1200" u="none" kern="1200" dirty="0"/>
        </a:p>
      </dsp:txBody>
      <dsp:txXfrm>
        <a:off x="2646950" y="2718817"/>
        <a:ext cx="3807388" cy="338056"/>
      </dsp:txXfrm>
    </dsp:sp>
    <dsp:sp modelId="{445C5680-1DAF-4D3A-AD4B-02840CB6A351}">
      <dsp:nvSpPr>
        <dsp:cNvPr id="0" name=""/>
        <dsp:cNvSpPr/>
      </dsp:nvSpPr>
      <dsp:spPr>
        <a:xfrm>
          <a:off x="2646950" y="3056874"/>
          <a:ext cx="121353" cy="121353"/>
        </a:xfrm>
        <a:prstGeom prst="ellipse">
          <a:avLst/>
        </a:prstGeom>
        <a:solidFill>
          <a:schemeClr val="accent5">
            <a:alpha val="50000"/>
            <a:hueOff val="-18429457"/>
            <a:satOff val="20625"/>
            <a:lumOff val="1177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CA9CD818-50F2-4E66-B585-5B36EFB75822}">
      <dsp:nvSpPr>
        <dsp:cNvPr id="0" name=""/>
        <dsp:cNvSpPr/>
      </dsp:nvSpPr>
      <dsp:spPr>
        <a:xfrm>
          <a:off x="2646950" y="3178227"/>
          <a:ext cx="3807388" cy="338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A" sz="1400" b="1" u="none" kern="1200" dirty="0">
              <a:latin typeface="Arial" panose="020B0604020202020204" pitchFamily="34" charset="0"/>
              <a:cs typeface="Arial" panose="020B0604020202020204" pitchFamily="34" charset="0"/>
            </a:rPr>
            <a:t>S.G.A: </a:t>
          </a:r>
          <a:r>
            <a:rPr lang="es-PA" sz="1400" b="0" u="none" kern="1200" dirty="0">
              <a:latin typeface="Arial" panose="020B0604020202020204" pitchFamily="34" charset="0"/>
              <a:cs typeface="Arial" panose="020B0604020202020204" pitchFamily="34" charset="0"/>
            </a:rPr>
            <a:t>Sistema General de </a:t>
          </a:r>
          <a:r>
            <a:rPr lang="es-PA" sz="1200" b="0" u="none" kern="1200" dirty="0">
              <a:latin typeface="Arial" panose="020B0604020202020204" pitchFamily="34" charset="0"/>
              <a:cs typeface="Arial" panose="020B0604020202020204" pitchFamily="34" charset="0"/>
            </a:rPr>
            <a:t>Armas</a:t>
          </a:r>
          <a:r>
            <a:rPr lang="es-PA" sz="1400" b="0" u="none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s-PA" sz="1400" b="0" u="none" kern="1200" dirty="0"/>
        </a:p>
      </dsp:txBody>
      <dsp:txXfrm>
        <a:off x="2646950" y="3178227"/>
        <a:ext cx="3807388" cy="3380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68232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71501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781201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426968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716330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80459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184399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638230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502129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403277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688641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3620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421882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546276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198965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7466093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984074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7FD5D-D106-4A00-A640-F9851AC47EE9}" type="datetimeFigureOut">
              <a:rPr lang="es-PA" smtClean="0"/>
              <a:t>05/12/2024</a:t>
            </a:fld>
            <a:endParaRPr lang="es-P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3802D-12A9-4F03-B8B9-3A9D041818A1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9270935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1.xml"/><Relationship Id="rId3" Type="http://schemas.openxmlformats.org/officeDocument/2006/relationships/chart" Target="../charts/chart6.xml"/><Relationship Id="rId7" Type="http://schemas.openxmlformats.org/officeDocument/2006/relationships/chart" Target="../charts/chart1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A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572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452284" y="1293952"/>
            <a:ext cx="56437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sz="2000" b="1" dirty="0">
                <a:solidFill>
                  <a:srgbClr val="FFFF00"/>
                </a:solidFill>
              </a:rPr>
              <a:t>DIRECCIÓN DE INNOVACIÓN Y TRANSFORMACIÓN DE LA TECNOLOGÍA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7548716" y="4772784"/>
            <a:ext cx="4252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PA" sz="2000" b="1" dirty="0">
                <a:solidFill>
                  <a:srgbClr val="FFFF00"/>
                </a:solidFill>
              </a:rPr>
              <a:t>INFORME DE GESTIÓN</a:t>
            </a:r>
          </a:p>
        </p:txBody>
      </p:sp>
    </p:spTree>
    <p:extLst>
      <p:ext uri="{BB962C8B-B14F-4D97-AF65-F5344CB8AC3E}">
        <p14:creationId xmlns:p14="http://schemas.microsoft.com/office/powerpoint/2010/main" val="1015505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PA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367" y="2113934"/>
            <a:ext cx="1391265" cy="1391265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23" name="Rectángulo 22"/>
          <p:cNvSpPr/>
          <p:nvPr/>
        </p:nvSpPr>
        <p:spPr>
          <a:xfrm>
            <a:off x="1397160" y="-2273"/>
            <a:ext cx="8790204" cy="1200329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r>
              <a:rPr lang="es-PA" sz="3600" dirty="0">
                <a:ln w="0"/>
                <a:solidFill>
                  <a:schemeClr val="bg2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Departamento de Infraestructura</a:t>
            </a:r>
          </a:p>
          <a:p>
            <a:pPr algn="ctr"/>
            <a:r>
              <a:rPr lang="es-PA" sz="3600" dirty="0">
                <a:ln w="0"/>
                <a:solidFill>
                  <a:schemeClr val="bg2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 de servidores y bases de datos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AB22351F-5154-E3A5-E1F8-23D676B7E3D9}"/>
              </a:ext>
            </a:extLst>
          </p:cNvPr>
          <p:cNvGrpSpPr/>
          <p:nvPr/>
        </p:nvGrpSpPr>
        <p:grpSpPr>
          <a:xfrm>
            <a:off x="164364" y="1509592"/>
            <a:ext cx="3213414" cy="728733"/>
            <a:chOff x="461119" y="1793485"/>
            <a:chExt cx="3213414" cy="974787"/>
          </a:xfrm>
        </p:grpSpPr>
        <p:sp>
          <p:nvSpPr>
            <p:cNvPr id="21" name="Paralelogramo 20"/>
            <p:cNvSpPr/>
            <p:nvPr/>
          </p:nvSpPr>
          <p:spPr>
            <a:xfrm>
              <a:off x="461119" y="1793485"/>
              <a:ext cx="3213414" cy="897501"/>
            </a:xfrm>
            <a:prstGeom prst="parallelogram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PA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" name="Paralelogramo 5">
              <a:extLst>
                <a:ext uri="{FF2B5EF4-FFF2-40B4-BE49-F238E27FC236}">
                  <a16:creationId xmlns:a16="http://schemas.microsoft.com/office/drawing/2014/main" id="{277F0DD8-37C2-381F-EA62-D45ED80BDE77}"/>
                </a:ext>
              </a:extLst>
            </p:cNvPr>
            <p:cNvSpPr/>
            <p:nvPr/>
          </p:nvSpPr>
          <p:spPr>
            <a:xfrm>
              <a:off x="1079669" y="1907932"/>
              <a:ext cx="2358123" cy="860340"/>
            </a:xfrm>
            <a:prstGeom prst="parallelogram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A" sz="1400" dirty="0">
                  <a:solidFill>
                    <a:schemeClr val="tx1">
                      <a:lumMod val="9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Gestión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F377A9BE-632E-AD5D-9B94-A1E77E95223C}"/>
              </a:ext>
            </a:extLst>
          </p:cNvPr>
          <p:cNvGrpSpPr/>
          <p:nvPr/>
        </p:nvGrpSpPr>
        <p:grpSpPr>
          <a:xfrm>
            <a:off x="158514" y="2807993"/>
            <a:ext cx="3214362" cy="728733"/>
            <a:chOff x="461118" y="2883750"/>
            <a:chExt cx="4728949" cy="966861"/>
          </a:xfrm>
        </p:grpSpPr>
        <p:sp>
          <p:nvSpPr>
            <p:cNvPr id="11" name="Paralelogramo 10"/>
            <p:cNvSpPr/>
            <p:nvPr/>
          </p:nvSpPr>
          <p:spPr>
            <a:xfrm>
              <a:off x="461118" y="2883750"/>
              <a:ext cx="4728949" cy="897500"/>
            </a:xfrm>
            <a:prstGeom prst="parallelogram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PA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9" name="Paralelogramo 18">
              <a:extLst>
                <a:ext uri="{FF2B5EF4-FFF2-40B4-BE49-F238E27FC236}">
                  <a16:creationId xmlns:a16="http://schemas.microsoft.com/office/drawing/2014/main" id="{DFFB3518-5924-4871-C2F7-30FEE0A708CD}"/>
                </a:ext>
              </a:extLst>
            </p:cNvPr>
            <p:cNvSpPr/>
            <p:nvPr/>
          </p:nvSpPr>
          <p:spPr>
            <a:xfrm>
              <a:off x="1372517" y="3005026"/>
              <a:ext cx="3469256" cy="845585"/>
            </a:xfrm>
            <a:prstGeom prst="parallelogram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bg1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A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Control de Sistemas Informáticos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5D8689A7-B7FF-BE03-AFCE-AF4E645BCA76}"/>
              </a:ext>
            </a:extLst>
          </p:cNvPr>
          <p:cNvGrpSpPr/>
          <p:nvPr/>
        </p:nvGrpSpPr>
        <p:grpSpPr>
          <a:xfrm>
            <a:off x="158514" y="4241518"/>
            <a:ext cx="3214361" cy="704335"/>
            <a:chOff x="461118" y="3974013"/>
            <a:chExt cx="3823854" cy="966861"/>
          </a:xfrm>
        </p:grpSpPr>
        <p:sp>
          <p:nvSpPr>
            <p:cNvPr id="12" name="Paralelogramo 11"/>
            <p:cNvSpPr/>
            <p:nvPr/>
          </p:nvSpPr>
          <p:spPr>
            <a:xfrm>
              <a:off x="461118" y="3974013"/>
              <a:ext cx="3823854" cy="897500"/>
            </a:xfrm>
            <a:prstGeom prst="parallelogram">
              <a:avLst/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s-PA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7" name="Paralelogramo 26">
              <a:extLst>
                <a:ext uri="{FF2B5EF4-FFF2-40B4-BE49-F238E27FC236}">
                  <a16:creationId xmlns:a16="http://schemas.microsoft.com/office/drawing/2014/main" id="{3BA0C264-410E-3E12-3449-EF2CB5A3DBAD}"/>
                </a:ext>
              </a:extLst>
            </p:cNvPr>
            <p:cNvSpPr/>
            <p:nvPr/>
          </p:nvSpPr>
          <p:spPr>
            <a:xfrm>
              <a:off x="1198080" y="4100363"/>
              <a:ext cx="2805261" cy="840511"/>
            </a:xfrm>
            <a:prstGeom prst="parallelogram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A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Gestión de hardware</a:t>
              </a:r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27C2CE92-01BB-14A1-5E91-96B00D30F651}"/>
              </a:ext>
            </a:extLst>
          </p:cNvPr>
          <p:cNvGrpSpPr/>
          <p:nvPr/>
        </p:nvGrpSpPr>
        <p:grpSpPr>
          <a:xfrm>
            <a:off x="163415" y="5576177"/>
            <a:ext cx="3214361" cy="704335"/>
            <a:chOff x="461118" y="5064276"/>
            <a:chExt cx="3729882" cy="1020902"/>
          </a:xfrm>
        </p:grpSpPr>
        <p:sp>
          <p:nvSpPr>
            <p:cNvPr id="15" name="Paralelogramo 14"/>
            <p:cNvSpPr/>
            <p:nvPr/>
          </p:nvSpPr>
          <p:spPr>
            <a:xfrm>
              <a:off x="461118" y="5064276"/>
              <a:ext cx="3729882" cy="897500"/>
            </a:xfrm>
            <a:prstGeom prst="parallelogram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PA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9" name="Paralelogramo 28">
              <a:extLst>
                <a:ext uri="{FF2B5EF4-FFF2-40B4-BE49-F238E27FC236}">
                  <a16:creationId xmlns:a16="http://schemas.microsoft.com/office/drawing/2014/main" id="{5DFEAECC-4570-7AAB-2A5A-0E5D823F00FA}"/>
                </a:ext>
              </a:extLst>
            </p:cNvPr>
            <p:cNvSpPr/>
            <p:nvPr/>
          </p:nvSpPr>
          <p:spPr>
            <a:xfrm>
              <a:off x="1179969" y="5172068"/>
              <a:ext cx="2736321" cy="913110"/>
            </a:xfrm>
            <a:prstGeom prst="parallelogram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bg1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A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Desarrollo de Software</a:t>
              </a:r>
            </a:p>
          </p:txBody>
        </p:sp>
      </p:grpSp>
      <p:sp>
        <p:nvSpPr>
          <p:cNvPr id="4" name="Llamada de nube 3"/>
          <p:cNvSpPr/>
          <p:nvPr/>
        </p:nvSpPr>
        <p:spPr>
          <a:xfrm>
            <a:off x="6791632" y="1141957"/>
            <a:ext cx="5326478" cy="2865370"/>
          </a:xfrm>
          <a:prstGeom prst="cloudCallou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PA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7382431" y="1740987"/>
            <a:ext cx="427201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A" sz="1200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Está orientado principalmente a la administración, control, soporte y mantenimiento del conjunto de servidores que mantiene el Ministerio de Seguridad a nivel nacional, los cuales están concentrados en su mayoría en los datacenters ubicados en Ciudad del Saber y en el CON C5, así como en la sede del Minseg en Amador.</a:t>
            </a:r>
          </a:p>
          <a:p>
            <a:pPr algn="just"/>
            <a:r>
              <a:rPr lang="es-PA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67885" y="2254914"/>
            <a:ext cx="2310129" cy="58477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PA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refiere al proceso de creación, habilitación e inhabilitación de cuentas de usuario. Esta labor es auditada mensualmente por el Departamento de Ciberseguridad.  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567885" y="3527411"/>
            <a:ext cx="2637310" cy="70788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A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Instalación, configuración y registro de los programas, softwares, aplicativos Web, bases de datos y sistemas operativos contenidos en los servidores del Minseg, así como a la implementación de planes de contingencia y al respaldo de la información. 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567885" y="4948833"/>
            <a:ext cx="3411448" cy="58477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PA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Soporte y mantenimiento físico de los servidores, a la elaboración de especificaciones técnicas y demás documentación sustentatoria para la compra de piezas y repuestos, al seguimiento a los proveedores para la entrega de los productos </a:t>
            </a:r>
          </a:p>
        </p:txBody>
      </p:sp>
      <p:sp>
        <p:nvSpPr>
          <p:cNvPr id="31" name="CuadroTexto 30"/>
          <p:cNvSpPr txBox="1"/>
          <p:nvPr/>
        </p:nvSpPr>
        <p:spPr>
          <a:xfrm>
            <a:off x="567885" y="6280512"/>
            <a:ext cx="2784624" cy="46166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PA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refiere a los programas, aplicativos y sistemas que mantiene el Minseg, tanto lo desarrollado por terceros, como los desarrollados in-</a:t>
            </a:r>
            <a:r>
              <a:rPr lang="es-PA" sz="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</a:t>
            </a:r>
            <a:r>
              <a:rPr lang="es-PA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8036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367" y="2113934"/>
            <a:ext cx="1391265" cy="1391265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PA"/>
          </a:p>
        </p:txBody>
      </p:sp>
      <p:graphicFrame>
        <p:nvGraphicFramePr>
          <p:cNvPr id="11" name="Gráfico 10"/>
          <p:cNvGraphicFramePr/>
          <p:nvPr>
            <p:extLst>
              <p:ext uri="{D42A27DB-BD31-4B8C-83A1-F6EECF244321}">
                <p14:modId xmlns:p14="http://schemas.microsoft.com/office/powerpoint/2010/main" val="2455905854"/>
              </p:ext>
            </p:extLst>
          </p:nvPr>
        </p:nvGraphicFramePr>
        <p:xfrm>
          <a:off x="46247" y="4194615"/>
          <a:ext cx="2722869" cy="2663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Rectángulo 12"/>
          <p:cNvSpPr/>
          <p:nvPr/>
        </p:nvSpPr>
        <p:spPr>
          <a:xfrm>
            <a:off x="1700897" y="157380"/>
            <a:ext cx="8790204" cy="646331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r>
              <a:rPr lang="es-PA" sz="3600" dirty="0">
                <a:ln w="0"/>
                <a:solidFill>
                  <a:schemeClr val="bg2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Control de Sistemas Informáticos</a:t>
            </a:r>
          </a:p>
        </p:txBody>
      </p:sp>
      <p:graphicFrame>
        <p:nvGraphicFramePr>
          <p:cNvPr id="14" name="Gráfico 13"/>
          <p:cNvGraphicFramePr/>
          <p:nvPr>
            <p:extLst>
              <p:ext uri="{D42A27DB-BD31-4B8C-83A1-F6EECF244321}">
                <p14:modId xmlns:p14="http://schemas.microsoft.com/office/powerpoint/2010/main" val="703934030"/>
              </p:ext>
            </p:extLst>
          </p:nvPr>
        </p:nvGraphicFramePr>
        <p:xfrm>
          <a:off x="5023607" y="4146595"/>
          <a:ext cx="2722869" cy="2663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Gráfico 14"/>
          <p:cNvGraphicFramePr/>
          <p:nvPr>
            <p:extLst>
              <p:ext uri="{D42A27DB-BD31-4B8C-83A1-F6EECF244321}">
                <p14:modId xmlns:p14="http://schemas.microsoft.com/office/powerpoint/2010/main" val="888464458"/>
              </p:ext>
            </p:extLst>
          </p:nvPr>
        </p:nvGraphicFramePr>
        <p:xfrm>
          <a:off x="7191359" y="4159635"/>
          <a:ext cx="2605424" cy="2663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6" name="Gráfico 15"/>
          <p:cNvGraphicFramePr/>
          <p:nvPr>
            <p:extLst>
              <p:ext uri="{D42A27DB-BD31-4B8C-83A1-F6EECF244321}">
                <p14:modId xmlns:p14="http://schemas.microsoft.com/office/powerpoint/2010/main" val="2981942237"/>
              </p:ext>
            </p:extLst>
          </p:nvPr>
        </p:nvGraphicFramePr>
        <p:xfrm>
          <a:off x="9247871" y="4037234"/>
          <a:ext cx="3054137" cy="2663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7" name="Tab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412649"/>
              </p:ext>
            </p:extLst>
          </p:nvPr>
        </p:nvGraphicFramePr>
        <p:xfrm>
          <a:off x="44181" y="2404534"/>
          <a:ext cx="5254272" cy="1648361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1313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3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8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00" b="0" dirty="0">
                          <a:effectLst/>
                        </a:rPr>
                        <a:t>Hipervisor</a:t>
                      </a:r>
                      <a:endParaRPr lang="es-PA" sz="1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00" b="0" dirty="0">
                          <a:effectLst/>
                        </a:rPr>
                        <a:t>Ubicación</a:t>
                      </a:r>
                      <a:endParaRPr lang="es-PA" sz="1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00" b="0" dirty="0">
                          <a:effectLst/>
                        </a:rPr>
                        <a:t>Servidores Físicos Utilizados</a:t>
                      </a:r>
                      <a:endParaRPr lang="es-PA" sz="1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00" b="0" dirty="0">
                          <a:effectLst/>
                        </a:rPr>
                        <a:t>Servidores Virtuales Administrados</a:t>
                      </a:r>
                      <a:endParaRPr lang="es-PA" sz="1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176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A" sz="1000" b="0" dirty="0">
                          <a:effectLst/>
                        </a:rPr>
                        <a:t>Hyper-V</a:t>
                      </a:r>
                      <a:endParaRPr lang="es-PA" sz="1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00" b="0">
                          <a:effectLst/>
                        </a:rPr>
                        <a:t>CON C5</a:t>
                      </a:r>
                      <a:endParaRPr lang="es-PA" sz="1000" b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00" b="0" dirty="0">
                          <a:effectLst/>
                        </a:rPr>
                        <a:t>1</a:t>
                      </a:r>
                      <a:endParaRPr lang="es-PA" sz="1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00" b="0">
                          <a:effectLst/>
                        </a:rPr>
                        <a:t>1</a:t>
                      </a:r>
                      <a:endParaRPr lang="es-PA" sz="1000" b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176">
                <a:tc vMerge="1">
                  <a:txBody>
                    <a:bodyPr/>
                    <a:lstStyle/>
                    <a:p>
                      <a:endParaRPr lang="es-P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00" b="0" dirty="0">
                          <a:effectLst/>
                        </a:rPr>
                        <a:t>Minseg</a:t>
                      </a:r>
                      <a:endParaRPr lang="es-PA" sz="1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00" b="0">
                          <a:effectLst/>
                        </a:rPr>
                        <a:t>1</a:t>
                      </a:r>
                      <a:endParaRPr lang="es-PA" sz="1000" b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00" b="0" dirty="0">
                          <a:effectLst/>
                        </a:rPr>
                        <a:t>1</a:t>
                      </a:r>
                      <a:endParaRPr lang="es-PA" sz="1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176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A" sz="1000" b="0" dirty="0">
                          <a:effectLst/>
                        </a:rPr>
                        <a:t>VMware</a:t>
                      </a:r>
                      <a:endParaRPr lang="es-PA" sz="1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00" b="0">
                          <a:effectLst/>
                        </a:rPr>
                        <a:t>CON C5</a:t>
                      </a:r>
                      <a:endParaRPr lang="es-PA" sz="1000" b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00" b="0">
                          <a:effectLst/>
                        </a:rPr>
                        <a:t>3</a:t>
                      </a:r>
                      <a:endParaRPr lang="es-PA" sz="1000" b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00" b="0">
                          <a:effectLst/>
                        </a:rPr>
                        <a:t>4</a:t>
                      </a:r>
                      <a:endParaRPr lang="es-PA" sz="1000" b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176">
                <a:tc vMerge="1">
                  <a:txBody>
                    <a:bodyPr/>
                    <a:lstStyle/>
                    <a:p>
                      <a:endParaRPr lang="es-P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00" b="0">
                          <a:effectLst/>
                        </a:rPr>
                        <a:t>IDC de Clayton</a:t>
                      </a:r>
                      <a:endParaRPr lang="es-PA" sz="1000" b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00" b="0">
                          <a:effectLst/>
                        </a:rPr>
                        <a:t>5</a:t>
                      </a:r>
                      <a:endParaRPr lang="es-PA" sz="1000" b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00" b="0">
                          <a:effectLst/>
                        </a:rPr>
                        <a:t>80</a:t>
                      </a:r>
                      <a:endParaRPr lang="es-PA" sz="1000" b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765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A" sz="1000" b="0" dirty="0">
                          <a:effectLst/>
                        </a:rPr>
                        <a:t>Totales</a:t>
                      </a:r>
                      <a:endParaRPr lang="es-PA" sz="1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s-P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A" sz="1000" b="0">
                          <a:effectLst/>
                        </a:rPr>
                        <a:t>10</a:t>
                      </a:r>
                      <a:endParaRPr lang="es-PA" sz="1000" b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A" sz="1000" b="0" dirty="0">
                          <a:effectLst/>
                        </a:rPr>
                        <a:t>86</a:t>
                      </a:r>
                      <a:endParaRPr lang="es-PA" sz="10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1" name="Grupo 20">
            <a:extLst>
              <a:ext uri="{FF2B5EF4-FFF2-40B4-BE49-F238E27FC236}">
                <a16:creationId xmlns:a16="http://schemas.microsoft.com/office/drawing/2014/main" id="{AB8023B7-8853-5EC6-18D2-F616934FAF54}"/>
              </a:ext>
            </a:extLst>
          </p:cNvPr>
          <p:cNvGrpSpPr/>
          <p:nvPr/>
        </p:nvGrpSpPr>
        <p:grpSpPr>
          <a:xfrm>
            <a:off x="8069880" y="2668179"/>
            <a:ext cx="3054137" cy="880770"/>
            <a:chOff x="780502" y="3956721"/>
            <a:chExt cx="3054137" cy="1066142"/>
          </a:xfrm>
        </p:grpSpPr>
        <p:sp>
          <p:nvSpPr>
            <p:cNvPr id="22" name="Paralelogramo 21">
              <a:extLst>
                <a:ext uri="{FF2B5EF4-FFF2-40B4-BE49-F238E27FC236}">
                  <a16:creationId xmlns:a16="http://schemas.microsoft.com/office/drawing/2014/main" id="{4159AEA8-431A-9453-53C7-2D4C61090384}"/>
                </a:ext>
              </a:extLst>
            </p:cNvPr>
            <p:cNvSpPr/>
            <p:nvPr/>
          </p:nvSpPr>
          <p:spPr>
            <a:xfrm>
              <a:off x="780502" y="3956721"/>
              <a:ext cx="3054137" cy="860343"/>
            </a:xfrm>
            <a:prstGeom prst="parallelogram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PA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Paralelogramo 22">
              <a:extLst>
                <a:ext uri="{FF2B5EF4-FFF2-40B4-BE49-F238E27FC236}">
                  <a16:creationId xmlns:a16="http://schemas.microsoft.com/office/drawing/2014/main" id="{D9228165-DE35-154F-6EDE-C89A32B73BA7}"/>
                </a:ext>
              </a:extLst>
            </p:cNvPr>
            <p:cNvSpPr/>
            <p:nvPr/>
          </p:nvSpPr>
          <p:spPr>
            <a:xfrm>
              <a:off x="968832" y="4162521"/>
              <a:ext cx="2605424" cy="860342"/>
            </a:xfrm>
            <a:prstGeom prst="parallelogram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s-PA" sz="1000" dirty="0">
                  <a:latin typeface="Arial" panose="020B0604020202020204" pitchFamily="34" charset="0"/>
                  <a:cs typeface="Arial" panose="020B0604020202020204" pitchFamily="34" charset="0"/>
                </a:rPr>
                <a:t>Contamos con distintas versiones  de sistemas</a:t>
              </a:r>
            </a:p>
            <a:p>
              <a:pPr lvl="0"/>
              <a:r>
                <a:rPr lang="es-PA" sz="1000" dirty="0">
                  <a:latin typeface="Arial" panose="020B0604020202020204" pitchFamily="34" charset="0"/>
                  <a:cs typeface="Arial" panose="020B0604020202020204" pitchFamily="34" charset="0"/>
                </a:rPr>
                <a:t> operativos y de bases de datos</a:t>
              </a:r>
              <a:endParaRPr lang="es-PA" sz="1000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Flecha abajo 11">
            <a:extLst>
              <a:ext uri="{FF2B5EF4-FFF2-40B4-BE49-F238E27FC236}">
                <a16:creationId xmlns:a16="http://schemas.microsoft.com/office/drawing/2014/main" id="{92DBF815-5633-2439-ECD8-47376A7A2F02}"/>
              </a:ext>
            </a:extLst>
          </p:cNvPr>
          <p:cNvSpPr/>
          <p:nvPr/>
        </p:nvSpPr>
        <p:spPr>
          <a:xfrm>
            <a:off x="9480438" y="3501680"/>
            <a:ext cx="450962" cy="413153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2352328-C74F-E6AC-C871-57906681A640}"/>
              </a:ext>
            </a:extLst>
          </p:cNvPr>
          <p:cNvSpPr txBox="1"/>
          <p:nvPr/>
        </p:nvSpPr>
        <p:spPr>
          <a:xfrm>
            <a:off x="305350" y="1266585"/>
            <a:ext cx="362843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A" sz="1100" dirty="0">
                <a:latin typeface="Arial" panose="020B0604020202020204" pitchFamily="34" charset="0"/>
                <a:cs typeface="Arial" panose="020B0604020202020204" pitchFamily="34" charset="0"/>
              </a:rPr>
              <a:t>Nótese la cantidad de servidores virtuales en el datacenter de Ciudad del Saber, Clayton. Esto se debe a que en este sitio mantenemos el Core principal de la institución (firewalls, balanceadores, storages, un blade, etc.).</a:t>
            </a:r>
          </a:p>
        </p:txBody>
      </p:sp>
      <p:sp>
        <p:nvSpPr>
          <p:cNvPr id="26" name="Flecha abajo 11">
            <a:extLst>
              <a:ext uri="{FF2B5EF4-FFF2-40B4-BE49-F238E27FC236}">
                <a16:creationId xmlns:a16="http://schemas.microsoft.com/office/drawing/2014/main" id="{854E354E-F944-F7D0-CB9B-E1F79463B052}"/>
              </a:ext>
            </a:extLst>
          </p:cNvPr>
          <p:cNvSpPr/>
          <p:nvPr/>
        </p:nvSpPr>
        <p:spPr>
          <a:xfrm rot="19268445">
            <a:off x="1210568" y="2105956"/>
            <a:ext cx="143934" cy="220292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graphicFrame>
        <p:nvGraphicFramePr>
          <p:cNvPr id="27" name="Gráfico 26">
            <a:extLst>
              <a:ext uri="{FF2B5EF4-FFF2-40B4-BE49-F238E27FC236}">
                <a16:creationId xmlns:a16="http://schemas.microsoft.com/office/drawing/2014/main" id="{4D5279E2-F8F9-B8D5-102A-1E802E7364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4521028"/>
              </p:ext>
            </p:extLst>
          </p:nvPr>
        </p:nvGraphicFramePr>
        <p:xfrm>
          <a:off x="2493781" y="4194616"/>
          <a:ext cx="2722869" cy="2390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28" name="Imagen 27">
            <a:extLst>
              <a:ext uri="{FF2B5EF4-FFF2-40B4-BE49-F238E27FC236}">
                <a16:creationId xmlns:a16="http://schemas.microsoft.com/office/drawing/2014/main" id="{E0676683-F435-15FE-BA7A-61DD5CCBD57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455" y="-108100"/>
            <a:ext cx="1662545" cy="1744764"/>
          </a:xfrm>
          <a:prstGeom prst="rect">
            <a:avLst/>
          </a:prstGeom>
          <a:effectLst>
            <a:outerShdw dir="5400000" sx="1000" sy="1000" algn="ctr" rotWithShape="0">
              <a:srgbClr val="000000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5386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367" y="2113934"/>
            <a:ext cx="1391265" cy="1391265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PA"/>
          </a:p>
        </p:txBody>
      </p:sp>
      <p:graphicFrame>
        <p:nvGraphicFramePr>
          <p:cNvPr id="8" name="Gráfico 7"/>
          <p:cNvGraphicFramePr/>
          <p:nvPr/>
        </p:nvGraphicFramePr>
        <p:xfrm>
          <a:off x="7629030" y="1364482"/>
          <a:ext cx="4087721" cy="28399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Gráfico 10"/>
          <p:cNvGraphicFramePr/>
          <p:nvPr>
            <p:extLst>
              <p:ext uri="{D42A27DB-BD31-4B8C-83A1-F6EECF244321}">
                <p14:modId xmlns:p14="http://schemas.microsoft.com/office/powerpoint/2010/main" val="3310459022"/>
              </p:ext>
            </p:extLst>
          </p:nvPr>
        </p:nvGraphicFramePr>
        <p:xfrm>
          <a:off x="46247" y="4194615"/>
          <a:ext cx="2722869" cy="2663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Gráfico 18"/>
          <p:cNvGraphicFramePr/>
          <p:nvPr/>
        </p:nvGraphicFramePr>
        <p:xfrm>
          <a:off x="2424034" y="4194615"/>
          <a:ext cx="2605423" cy="2124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Rectángulo 12"/>
          <p:cNvSpPr/>
          <p:nvPr/>
        </p:nvSpPr>
        <p:spPr>
          <a:xfrm>
            <a:off x="1700897" y="157380"/>
            <a:ext cx="8790204" cy="646331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lstStyle/>
          <a:p>
            <a:r>
              <a:rPr lang="es-PA" sz="3600" dirty="0">
                <a:ln w="0"/>
                <a:solidFill>
                  <a:schemeClr val="bg2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Control de Sistemas Informáticos</a:t>
            </a:r>
          </a:p>
        </p:txBody>
      </p:sp>
      <p:graphicFrame>
        <p:nvGraphicFramePr>
          <p:cNvPr id="14" name="Gráfico 13"/>
          <p:cNvGraphicFramePr/>
          <p:nvPr/>
        </p:nvGraphicFramePr>
        <p:xfrm>
          <a:off x="5023607" y="4146595"/>
          <a:ext cx="2722869" cy="2663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5" name="Gráfico 14"/>
          <p:cNvGraphicFramePr/>
          <p:nvPr/>
        </p:nvGraphicFramePr>
        <p:xfrm>
          <a:off x="7191359" y="4159635"/>
          <a:ext cx="2605424" cy="2663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6" name="Gráfico 15"/>
          <p:cNvGraphicFramePr/>
          <p:nvPr/>
        </p:nvGraphicFramePr>
        <p:xfrm>
          <a:off x="9247871" y="4037234"/>
          <a:ext cx="3054137" cy="2663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7" name="Tabla 16"/>
          <p:cNvGraphicFramePr>
            <a:graphicFrameLocks noGrp="1"/>
          </p:cNvGraphicFramePr>
          <p:nvPr/>
        </p:nvGraphicFramePr>
        <p:xfrm>
          <a:off x="44181" y="2097020"/>
          <a:ext cx="5254272" cy="194021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1313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3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5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50" dirty="0">
                          <a:effectLst/>
                        </a:rPr>
                        <a:t>Hipervisor</a:t>
                      </a:r>
                      <a:endParaRPr lang="es-P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50">
                          <a:effectLst/>
                        </a:rPr>
                        <a:t>Ubicación</a:t>
                      </a:r>
                      <a:endParaRPr lang="es-P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50">
                          <a:effectLst/>
                        </a:rPr>
                        <a:t>Servidores Físicos Utilizados</a:t>
                      </a:r>
                      <a:endParaRPr lang="es-P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50">
                          <a:effectLst/>
                        </a:rPr>
                        <a:t>Servidores Virtuales Administrados</a:t>
                      </a:r>
                      <a:endParaRPr lang="es-P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667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A" sz="1050" dirty="0">
                          <a:effectLst/>
                        </a:rPr>
                        <a:t>Hyper-V</a:t>
                      </a:r>
                      <a:endParaRPr lang="es-P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50">
                          <a:effectLst/>
                        </a:rPr>
                        <a:t>CON C5</a:t>
                      </a:r>
                      <a:endParaRPr lang="es-P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50" dirty="0">
                          <a:effectLst/>
                        </a:rPr>
                        <a:t>1</a:t>
                      </a:r>
                      <a:endParaRPr lang="es-P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50">
                          <a:effectLst/>
                        </a:rPr>
                        <a:t>1</a:t>
                      </a:r>
                      <a:endParaRPr lang="es-P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667">
                <a:tc vMerge="1">
                  <a:txBody>
                    <a:bodyPr/>
                    <a:lstStyle/>
                    <a:p>
                      <a:endParaRPr lang="es-P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50" dirty="0">
                          <a:effectLst/>
                        </a:rPr>
                        <a:t>Minseg</a:t>
                      </a:r>
                      <a:endParaRPr lang="es-P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50">
                          <a:effectLst/>
                        </a:rPr>
                        <a:t>1</a:t>
                      </a:r>
                      <a:endParaRPr lang="es-P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50" dirty="0">
                          <a:effectLst/>
                        </a:rPr>
                        <a:t>1</a:t>
                      </a:r>
                      <a:endParaRPr lang="es-P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667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A" sz="1050" dirty="0" err="1">
                          <a:effectLst/>
                        </a:rPr>
                        <a:t>Vmware</a:t>
                      </a:r>
                      <a:endParaRPr lang="es-P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50">
                          <a:effectLst/>
                        </a:rPr>
                        <a:t>CON C5</a:t>
                      </a:r>
                      <a:endParaRPr lang="es-P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50">
                          <a:effectLst/>
                        </a:rPr>
                        <a:t>3</a:t>
                      </a:r>
                      <a:endParaRPr lang="es-P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50">
                          <a:effectLst/>
                        </a:rPr>
                        <a:t>4</a:t>
                      </a:r>
                      <a:endParaRPr lang="es-P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667">
                <a:tc vMerge="1">
                  <a:txBody>
                    <a:bodyPr/>
                    <a:lstStyle/>
                    <a:p>
                      <a:endParaRPr lang="es-P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50">
                          <a:effectLst/>
                        </a:rPr>
                        <a:t>IDC de Clayton</a:t>
                      </a:r>
                      <a:endParaRPr lang="es-P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50">
                          <a:effectLst/>
                        </a:rPr>
                        <a:t>5</a:t>
                      </a:r>
                      <a:endParaRPr lang="es-P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050">
                          <a:effectLst/>
                        </a:rPr>
                        <a:t>80</a:t>
                      </a:r>
                      <a:endParaRPr lang="es-P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96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A" sz="1050" dirty="0">
                          <a:effectLst/>
                        </a:rPr>
                        <a:t>Totales</a:t>
                      </a:r>
                      <a:endParaRPr lang="es-P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s-P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A" sz="1050">
                          <a:effectLst/>
                        </a:rPr>
                        <a:t>10</a:t>
                      </a:r>
                      <a:endParaRPr lang="es-P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PA" sz="1050" dirty="0">
                          <a:effectLst/>
                        </a:rPr>
                        <a:t>86</a:t>
                      </a:r>
                      <a:endParaRPr lang="es-P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35032090-E3D7-FE8A-8473-31D01626E84F}"/>
              </a:ext>
            </a:extLst>
          </p:cNvPr>
          <p:cNvSpPr txBox="1"/>
          <p:nvPr/>
        </p:nvSpPr>
        <p:spPr>
          <a:xfrm>
            <a:off x="113980" y="1105768"/>
            <a:ext cx="391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PA" sz="1400" dirty="0">
                <a:latin typeface="Arial" panose="020B0604020202020204" pitchFamily="34" charset="0"/>
                <a:cs typeface="Arial" panose="020B0604020202020204" pitchFamily="34" charset="0"/>
              </a:rPr>
              <a:t>Contamos con distintas versiones  de sistemas</a:t>
            </a:r>
          </a:p>
          <a:p>
            <a:pPr lvl="0"/>
            <a:r>
              <a:rPr lang="es-PA" sz="1400" dirty="0">
                <a:latin typeface="Arial" panose="020B0604020202020204" pitchFamily="34" charset="0"/>
                <a:cs typeface="Arial" panose="020B0604020202020204" pitchFamily="34" charset="0"/>
              </a:rPr>
              <a:t> operativos y de bases de datos</a:t>
            </a:r>
          </a:p>
        </p:txBody>
      </p:sp>
    </p:spTree>
    <p:extLst>
      <p:ext uri="{BB962C8B-B14F-4D97-AF65-F5344CB8AC3E}">
        <p14:creationId xmlns:p14="http://schemas.microsoft.com/office/powerpoint/2010/main" val="2340695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367" y="2113934"/>
            <a:ext cx="1391265" cy="1391265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PA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5564" y="5202589"/>
            <a:ext cx="1662545" cy="1744764"/>
          </a:xfrm>
          <a:prstGeom prst="rect">
            <a:avLst/>
          </a:prstGeom>
        </p:spPr>
      </p:pic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260480714"/>
              </p:ext>
            </p:extLst>
          </p:nvPr>
        </p:nvGraphicFramePr>
        <p:xfrm>
          <a:off x="-1282255" y="2474151"/>
          <a:ext cx="8311128" cy="3961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Rectángulo 3"/>
          <p:cNvSpPr/>
          <p:nvPr/>
        </p:nvSpPr>
        <p:spPr>
          <a:xfrm>
            <a:off x="1760453" y="171403"/>
            <a:ext cx="86710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A" sz="3600" dirty="0">
                <a:ln w="0"/>
                <a:solidFill>
                  <a:schemeClr val="bg2">
                    <a:lumMod val="40000"/>
                    <a:lumOff val="6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  <a:cs typeface="Arial" panose="020B0604020202020204" pitchFamily="34" charset="0"/>
              </a:rPr>
              <a:t>Control de Sistemas Informáticos</a:t>
            </a:r>
          </a:p>
        </p:txBody>
      </p:sp>
      <p:sp>
        <p:nvSpPr>
          <p:cNvPr id="11" name="Rectángulo redondeado 10"/>
          <p:cNvSpPr/>
          <p:nvPr/>
        </p:nvSpPr>
        <p:spPr>
          <a:xfrm>
            <a:off x="803136" y="1136587"/>
            <a:ext cx="3723149" cy="674254"/>
          </a:xfrm>
          <a:prstGeom prst="roundRect">
            <a:avLst/>
          </a:prstGeom>
          <a:ln>
            <a:noFill/>
          </a:ln>
          <a:effectLst>
            <a:glow rad="101600">
              <a:schemeClr val="bg1">
                <a:lumMod val="65000"/>
                <a:lumOff val="35000"/>
                <a:alpha val="6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PA" sz="1400" dirty="0">
                <a:latin typeface="Arial" panose="020B0604020202020204" pitchFamily="34" charset="0"/>
                <a:cs typeface="Arial" panose="020B0604020202020204" pitchFamily="34" charset="0"/>
              </a:rPr>
              <a:t>Entre los sistemas informáticos que tenemos en el Minseg tenemos:</a:t>
            </a:r>
          </a:p>
        </p:txBody>
      </p:sp>
      <p:sp>
        <p:nvSpPr>
          <p:cNvPr id="12" name="Flecha abajo 11"/>
          <p:cNvSpPr/>
          <p:nvPr/>
        </p:nvSpPr>
        <p:spPr>
          <a:xfrm>
            <a:off x="2277584" y="1778170"/>
            <a:ext cx="581890" cy="583169"/>
          </a:xfrm>
          <a:prstGeom prst="downArrow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782984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ORGANIGRAMA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A" dirty="0"/>
              <a:t>ESTO YA ESTA DEFINIDO / NO COMPLETAR</a:t>
            </a:r>
          </a:p>
        </p:txBody>
      </p:sp>
    </p:spTree>
    <p:extLst>
      <p:ext uri="{BB962C8B-B14F-4D97-AF65-F5344CB8AC3E}">
        <p14:creationId xmlns:p14="http://schemas.microsoft.com/office/powerpoint/2010/main" val="1812275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FUNCIONES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A" dirty="0"/>
              <a:t>ESTO YA ESTA DEFINIDO / NO COMPLETAR</a:t>
            </a:r>
          </a:p>
        </p:txBody>
      </p:sp>
    </p:spTree>
    <p:extLst>
      <p:ext uri="{BB962C8B-B14F-4D97-AF65-F5344CB8AC3E}">
        <p14:creationId xmlns:p14="http://schemas.microsoft.com/office/powerpoint/2010/main" val="609241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176978"/>
            <a:ext cx="10353761" cy="1326321"/>
          </a:xfrm>
        </p:spPr>
        <p:txBody>
          <a:bodyPr/>
          <a:lstStyle/>
          <a:p>
            <a:r>
              <a:rPr lang="es-PA" dirty="0"/>
              <a:t>RECURSO HUMANO</a:t>
            </a:r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490194"/>
              </p:ext>
            </p:extLst>
          </p:nvPr>
        </p:nvGraphicFramePr>
        <p:xfrm>
          <a:off x="402434" y="1503299"/>
          <a:ext cx="11543070" cy="3763186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580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5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46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9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50230">
                <a:tc>
                  <a:txBody>
                    <a:bodyPr/>
                    <a:lstStyle/>
                    <a:p>
                      <a:pPr algn="ctr"/>
                      <a:r>
                        <a:rPr lang="es-PA" sz="14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/>
                        <a:t>Nombre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/>
                        <a:t>Apellido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/>
                        <a:t>Tiempo de Servicio en Minseg (años)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baseline="0" dirty="0"/>
                        <a:t>Titulo Universitario</a:t>
                      </a:r>
                      <a:endParaRPr lang="es-PA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/>
                        <a:t>Otros Estudios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239"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Juan</a:t>
                      </a:r>
                      <a:r>
                        <a:rPr lang="es-PA" sz="14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s-PA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Pérez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No</a:t>
                      </a:r>
                      <a:r>
                        <a:rPr lang="es-PA" sz="1400" baseline="0" dirty="0">
                          <a:solidFill>
                            <a:schemeClr val="bg1"/>
                          </a:solidFill>
                        </a:rPr>
                        <a:t> Aplica</a:t>
                      </a:r>
                      <a:endParaRPr lang="es-PA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2do Año de Técnico en Informática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239"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Juan1</a:t>
                      </a:r>
                      <a:r>
                        <a:rPr lang="es-PA" sz="14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s-PA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Pérez1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No</a:t>
                      </a:r>
                      <a:r>
                        <a:rPr lang="es-PA" sz="1400" baseline="0" dirty="0">
                          <a:solidFill>
                            <a:schemeClr val="bg1"/>
                          </a:solidFill>
                        </a:rPr>
                        <a:t> Aplica</a:t>
                      </a:r>
                      <a:endParaRPr lang="es-PA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Curso</a:t>
                      </a:r>
                      <a:r>
                        <a:rPr lang="es-PA" sz="1400" baseline="0" dirty="0">
                          <a:solidFill>
                            <a:schemeClr val="bg1"/>
                          </a:solidFill>
                        </a:rPr>
                        <a:t> COMPTIA+</a:t>
                      </a:r>
                      <a:endParaRPr lang="es-PA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239"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Juan2</a:t>
                      </a:r>
                      <a:r>
                        <a:rPr lang="es-PA" sz="1400" baseline="0" dirty="0">
                          <a:solidFill>
                            <a:schemeClr val="bg1"/>
                          </a:solidFill>
                        </a:rPr>
                        <a:t> *</a:t>
                      </a:r>
                      <a:endParaRPr lang="es-PA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Pérez2*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Técnico</a:t>
                      </a:r>
                      <a:r>
                        <a:rPr lang="es-PA" sz="1400" baseline="0" dirty="0">
                          <a:solidFill>
                            <a:schemeClr val="bg1"/>
                          </a:solidFill>
                        </a:rPr>
                        <a:t> en Sistemas Tecnológicos</a:t>
                      </a:r>
                      <a:endParaRPr lang="es-PA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PA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239">
                <a:tc>
                  <a:txBody>
                    <a:bodyPr/>
                    <a:lstStyle/>
                    <a:p>
                      <a:pPr algn="ctr"/>
                      <a:r>
                        <a:rPr lang="es-PA" sz="14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PA" sz="14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PA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PA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PA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s-PA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uadroTexto 4"/>
          <p:cNvSpPr txBox="1"/>
          <p:nvPr/>
        </p:nvSpPr>
        <p:spPr>
          <a:xfrm>
            <a:off x="599768" y="5791200"/>
            <a:ext cx="8731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dirty="0">
                <a:solidFill>
                  <a:srgbClr val="FFFF00"/>
                </a:solidFill>
              </a:rPr>
              <a:t>Observación: Los Asteriscos significa que es unidad policial activa.</a:t>
            </a:r>
          </a:p>
        </p:txBody>
      </p:sp>
    </p:spTree>
    <p:extLst>
      <p:ext uri="{BB962C8B-B14F-4D97-AF65-F5344CB8AC3E}">
        <p14:creationId xmlns:p14="http://schemas.microsoft.com/office/powerpoint/2010/main" val="1669598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Recursos tecnológicos institucionales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PA" dirty="0"/>
              <a:t>Describir aquí un inventario Global de los Recursos </a:t>
            </a:r>
            <a:r>
              <a:rPr lang="es-PA" dirty="0" err="1"/>
              <a:t>Tecnologicos</a:t>
            </a:r>
            <a:r>
              <a:rPr lang="es-PA" dirty="0"/>
              <a:t> que son su responsabilidad (hardware/software) a nivel nacional.</a:t>
            </a:r>
          </a:p>
          <a:p>
            <a:r>
              <a:rPr lang="es-PA" dirty="0"/>
              <a:t>Ejemplo … Soporte debe indicar cuantas computadoras, impresoras, </a:t>
            </a:r>
            <a:r>
              <a:rPr lang="es-PA" dirty="0" err="1"/>
              <a:t>etc</a:t>
            </a:r>
            <a:r>
              <a:rPr lang="es-PA" dirty="0"/>
              <a:t> tiene la institución a nivel nacional, así como software, con sus licencias y fecha de expiración; contratos activos con su fecha de inicio y finalización; Proyectos se encargara de detallar la información de los proyectos de inversión por lo que los otros departamentos no deben hablar nada de eso. ; sistemas debe detallar la información de sus servidores y sistemas, </a:t>
            </a:r>
            <a:r>
              <a:rPr lang="es-PA" dirty="0" err="1"/>
              <a:t>IDC’s</a:t>
            </a:r>
            <a:r>
              <a:rPr lang="es-PA" dirty="0"/>
              <a:t> (con.c5 es </a:t>
            </a:r>
            <a:r>
              <a:rPr lang="es-PA" dirty="0" err="1"/>
              <a:t>idc</a:t>
            </a:r>
            <a:r>
              <a:rPr lang="es-PA" dirty="0"/>
              <a:t> también </a:t>
            </a:r>
            <a:r>
              <a:rPr lang="es-PA" dirty="0" err="1"/>
              <a:t>asi</a:t>
            </a:r>
            <a:r>
              <a:rPr lang="es-PA" dirty="0"/>
              <a:t> que deben indicar lo que tienen </a:t>
            </a:r>
            <a:r>
              <a:rPr lang="es-PA" dirty="0" err="1"/>
              <a:t>alla</a:t>
            </a:r>
            <a:r>
              <a:rPr lang="es-PA" dirty="0"/>
              <a:t> al igual que Clayton) Administración financiera (Jesi) se encargará de indicar el estado de </a:t>
            </a:r>
            <a:r>
              <a:rPr lang="es-PA"/>
              <a:t>los contratos</a:t>
            </a: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32731462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5276</TotalTime>
  <Words>699</Words>
  <Application>Microsoft Office PowerPoint</Application>
  <PresentationFormat>Panorámica</PresentationFormat>
  <Paragraphs>120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Bookman Old Style</vt:lpstr>
      <vt:lpstr>Calibri</vt:lpstr>
      <vt:lpstr>Rockwell</vt:lpstr>
      <vt:lpstr>Damask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ORGANIGRAMA</vt:lpstr>
      <vt:lpstr>FUNCIONES</vt:lpstr>
      <vt:lpstr>RECURSO HUMANO</vt:lpstr>
      <vt:lpstr>Recursos tecnológicos institucionales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Marisol Guerra</dc:creator>
  <cp:lastModifiedBy>Felipe Pinto</cp:lastModifiedBy>
  <cp:revision>205</cp:revision>
  <dcterms:created xsi:type="dcterms:W3CDTF">2024-04-26T11:56:29Z</dcterms:created>
  <dcterms:modified xsi:type="dcterms:W3CDTF">2024-05-12T19:08:43Z</dcterms:modified>
</cp:coreProperties>
</file>