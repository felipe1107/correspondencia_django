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4" r:id="rId2"/>
    <p:sldId id="256" r:id="rId3"/>
    <p:sldId id="257" r:id="rId4"/>
    <p:sldId id="258" r:id="rId5"/>
    <p:sldId id="259" r:id="rId6"/>
    <p:sldId id="260" r:id="rId7"/>
    <p:sldId id="261" r:id="rId8"/>
    <p:sldId id="262" r:id="rId9"/>
    <p:sldId id="263" r:id="rId10"/>
  </p:sldIdLst>
  <p:sldSz cx="14630400" cy="8229600"/>
  <p:notesSz cx="8229600" cy="14630400"/>
  <p:embeddedFontLst>
    <p:embeddedFont>
      <p:font typeface="Calibri" panose="020F0502020204030204" pitchFamily="34" charset="0"/>
      <p:regular r:id="rId12"/>
      <p:bold r:id="rId13"/>
      <p:italic r:id="rId14"/>
      <p:boldItalic r:id="rId15"/>
    </p:embeddedFont>
    <p:embeddedFont>
      <p:font typeface="Overpass" panose="020B0604020202020204" charset="0"/>
      <p:regular r:id="rId16"/>
    </p:embeddedFont>
  </p:embeddedFontLst>
  <p:defaultTextStyle>
    <a:defPPr>
      <a:defRPr lang="es-P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3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28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008075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83000">
              <a:schemeClr val="bg1"/>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1148"/>
          </a:xfrm>
          <a:prstGeom prst="rect">
            <a:avLst/>
          </a:prstGeom>
        </p:spPr>
      </p:pic>
      <p:sp>
        <p:nvSpPr>
          <p:cNvPr id="4" name="Text 1"/>
          <p:cNvSpPr/>
          <p:nvPr/>
        </p:nvSpPr>
        <p:spPr>
          <a:xfrm>
            <a:off x="6321862" y="2418636"/>
            <a:ext cx="7473077" cy="2291715"/>
          </a:xfrm>
          <a:prstGeom prst="rect">
            <a:avLst/>
          </a:prstGeom>
          <a:noFill/>
          <a:ln/>
        </p:spPr>
        <p:txBody>
          <a:bodyPr wrap="square" lIns="0" tIns="0" rIns="0" bIns="0" rtlCol="0" anchor="t"/>
          <a:lstStyle/>
          <a:p>
            <a:pPr marL="0" indent="0" algn="l">
              <a:lnSpc>
                <a:spcPts val="3000"/>
              </a:lnSpc>
              <a:buNone/>
            </a:pPr>
            <a:endParaRPr lang="en-US" sz="1850" dirty="0"/>
          </a:p>
        </p:txBody>
      </p:sp>
      <p:sp>
        <p:nvSpPr>
          <p:cNvPr id="9" name="Rectángulo 8"/>
          <p:cNvSpPr/>
          <p:nvPr/>
        </p:nvSpPr>
        <p:spPr>
          <a:xfrm>
            <a:off x="6346536" y="634532"/>
            <a:ext cx="7315200" cy="7171194"/>
          </a:xfrm>
          <a:prstGeom prst="rect">
            <a:avLst/>
          </a:prstGeom>
        </p:spPr>
        <p:txBody>
          <a:bodyPr>
            <a:spAutoFit/>
          </a:bodyPr>
          <a:lstStyle/>
          <a:p>
            <a:pPr algn="ctr"/>
            <a:r>
              <a:rPr lang="es-MX" sz="2800" dirty="0" smtClean="0">
                <a:solidFill>
                  <a:schemeClr val="bg1"/>
                </a:solidFill>
              </a:rPr>
              <a:t>Universidad de Panamá.</a:t>
            </a:r>
          </a:p>
          <a:p>
            <a:pPr algn="ctr"/>
            <a:r>
              <a:rPr lang="es-MX" sz="2400" dirty="0" smtClean="0">
                <a:solidFill>
                  <a:schemeClr val="bg1"/>
                </a:solidFill>
              </a:rPr>
              <a:t>Centro </a:t>
            </a:r>
            <a:r>
              <a:rPr lang="es-MX" sz="2400" dirty="0" smtClean="0"/>
              <a:t>Regional Universitario de Panamá Oeste.</a:t>
            </a:r>
          </a:p>
          <a:p>
            <a:pPr algn="ctr"/>
            <a:r>
              <a:rPr lang="es-MX" sz="2400" dirty="0" smtClean="0"/>
              <a:t>Facultad de Informática, Electrónica y Comunicación.</a:t>
            </a:r>
          </a:p>
          <a:p>
            <a:pPr algn="ctr"/>
            <a:endParaRPr lang="es-MX" sz="2400" dirty="0" smtClean="0"/>
          </a:p>
          <a:p>
            <a:pPr algn="ctr"/>
            <a:r>
              <a:rPr lang="es-MX" sz="2400" dirty="0" smtClean="0"/>
              <a:t>Licenciatura en Informática para la Gestión Educativa y Empresarial.</a:t>
            </a:r>
          </a:p>
          <a:p>
            <a:pPr algn="ctr"/>
            <a:r>
              <a:rPr lang="es-MX" sz="2400" dirty="0" smtClean="0"/>
              <a:t>Asignatura</a:t>
            </a:r>
          </a:p>
          <a:p>
            <a:pPr algn="ctr"/>
            <a:endParaRPr lang="es-MX" sz="2400" dirty="0" smtClean="0"/>
          </a:p>
          <a:p>
            <a:pPr algn="ctr"/>
            <a:r>
              <a:rPr lang="es-MX" sz="2400" dirty="0" smtClean="0"/>
              <a:t>Desarrollo de Emprendedores</a:t>
            </a:r>
          </a:p>
          <a:p>
            <a:pPr algn="ctr"/>
            <a:r>
              <a:rPr lang="es-MX" sz="2400" dirty="0" smtClean="0"/>
              <a:t>Estudiante</a:t>
            </a:r>
          </a:p>
          <a:p>
            <a:pPr algn="ctr"/>
            <a:r>
              <a:rPr lang="es-MX" sz="2400" dirty="0" smtClean="0"/>
              <a:t>Felipe Pinto</a:t>
            </a:r>
          </a:p>
          <a:p>
            <a:pPr algn="ctr"/>
            <a:r>
              <a:rPr lang="es-MX" sz="2400" dirty="0" smtClean="0"/>
              <a:t>1-716-1170</a:t>
            </a:r>
          </a:p>
          <a:p>
            <a:pPr algn="ctr"/>
            <a:endParaRPr lang="es-MX" sz="2400" dirty="0" smtClean="0"/>
          </a:p>
          <a:p>
            <a:pPr algn="ctr"/>
            <a:r>
              <a:rPr lang="es-MX" sz="2400" dirty="0" smtClean="0"/>
              <a:t>Profesora</a:t>
            </a:r>
          </a:p>
          <a:p>
            <a:pPr algn="ctr"/>
            <a:r>
              <a:rPr lang="es-MX" sz="2400" dirty="0" err="1" smtClean="0"/>
              <a:t>Exenia</a:t>
            </a:r>
            <a:r>
              <a:rPr lang="es-MX" sz="2400" dirty="0" smtClean="0"/>
              <a:t> Guerra</a:t>
            </a:r>
          </a:p>
          <a:p>
            <a:pPr algn="ctr"/>
            <a:r>
              <a:rPr lang="es-MX" sz="2400" dirty="0" smtClean="0"/>
              <a:t>Asignación</a:t>
            </a:r>
          </a:p>
          <a:p>
            <a:pPr algn="ctr"/>
            <a:r>
              <a:rPr lang="es-MX" sz="2400" dirty="0" smtClean="0"/>
              <a:t>Trabajo de Investigación</a:t>
            </a:r>
          </a:p>
          <a:p>
            <a:pPr algn="ctr"/>
            <a:endParaRPr lang="es-MX" sz="2400" dirty="0" smtClean="0"/>
          </a:p>
          <a:p>
            <a:pPr algn="ctr"/>
            <a:r>
              <a:rPr lang="es-MX" sz="2400" dirty="0" smtClean="0"/>
              <a:t>Mayo 13/05/2025</a:t>
            </a:r>
            <a:endParaRPr lang="es-MX" sz="2400" dirty="0"/>
          </a:p>
        </p:txBody>
      </p:sp>
      <p:pic>
        <p:nvPicPr>
          <p:cNvPr id="10" name="Imagen 9"/>
          <p:cNvPicPr>
            <a:picLocks noChangeAspect="1"/>
          </p:cNvPicPr>
          <p:nvPr/>
        </p:nvPicPr>
        <p:blipFill>
          <a:blip r:embed="rId4"/>
          <a:stretch>
            <a:fillRect/>
          </a:stretch>
        </p:blipFill>
        <p:spPr>
          <a:xfrm>
            <a:off x="13295023" y="402067"/>
            <a:ext cx="999831" cy="762066"/>
          </a:xfrm>
          <a:prstGeom prst="rect">
            <a:avLst/>
          </a:prstGeom>
        </p:spPr>
      </p:pic>
      <p:pic>
        <p:nvPicPr>
          <p:cNvPr id="15" name="Imagen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94762" y="208569"/>
            <a:ext cx="2237141" cy="1149062"/>
          </a:xfrm>
          <a:prstGeom prst="rect">
            <a:avLst/>
          </a:prstGeom>
        </p:spPr>
      </p:pic>
    </p:spTree>
    <p:extLst>
      <p:ext uri="{BB962C8B-B14F-4D97-AF65-F5344CB8AC3E}">
        <p14:creationId xmlns:p14="http://schemas.microsoft.com/office/powerpoint/2010/main" val="3685542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321862" y="656393"/>
            <a:ext cx="7191771" cy="1217378"/>
          </a:xfrm>
          <a:prstGeom prst="rect">
            <a:avLst/>
          </a:prstGeom>
          <a:noFill/>
          <a:ln/>
        </p:spPr>
        <p:txBody>
          <a:bodyPr wrap="square" lIns="0" tIns="0" rIns="0" bIns="0" rtlCol="0" anchor="t"/>
          <a:lstStyle/>
          <a:p>
            <a:pPr marL="0" indent="0" algn="l">
              <a:lnSpc>
                <a:spcPts val="5500"/>
              </a:lnSpc>
              <a:buNone/>
            </a:pPr>
            <a:r>
              <a:rPr lang="en-US" sz="4000" b="1" dirty="0">
                <a:solidFill>
                  <a:srgbClr val="FFFFFF"/>
                </a:solidFill>
                <a:latin typeface="Overpass Bold" pitchFamily="34" charset="0"/>
                <a:ea typeface="Overpass Bold" pitchFamily="34" charset="-122"/>
                <a:cs typeface="Overpass Bold" pitchFamily="34" charset="-120"/>
              </a:rPr>
              <a:t>Productos Toledano S.A.: 70 Años de Excelencia Avícola</a:t>
            </a:r>
            <a:endParaRPr lang="en-US" sz="4000" dirty="0"/>
          </a:p>
        </p:txBody>
      </p:sp>
      <p:sp>
        <p:nvSpPr>
          <p:cNvPr id="4" name="Text 1"/>
          <p:cNvSpPr/>
          <p:nvPr/>
        </p:nvSpPr>
        <p:spPr>
          <a:xfrm>
            <a:off x="6321862" y="2418636"/>
            <a:ext cx="7473077" cy="2291715"/>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Este análisis examina a Productos Toledano S.A., una empresa panameña con más de 70 años de trayectoria en la industria avícola. Fundada en 1954 por Robert I. Toledano M., la compañía se ha consolidado como líder en el mercado nacional, adaptándose constantemente a las exigencias del mercado y ofreciendo productos de alta calidad.</a:t>
            </a:r>
            <a:endParaRPr lang="en-US" sz="1850" dirty="0"/>
          </a:p>
        </p:txBody>
      </p:sp>
      <p:sp>
        <p:nvSpPr>
          <p:cNvPr id="5" name="Text 2"/>
          <p:cNvSpPr/>
          <p:nvPr/>
        </p:nvSpPr>
        <p:spPr>
          <a:xfrm>
            <a:off x="6321862" y="4978837"/>
            <a:ext cx="7473077" cy="1909763"/>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A lo largo de esta presentación, exploraremos aspectos fundamentales como su historia, misión, visión, valores corporativos, productos, estructura organizativa, análisis FODA y propuestas de mejora, proporcionando una visión integral de su funcionamiento y posicionamiento estratégico en el mercado panameño.</a:t>
            </a:r>
            <a:endParaRPr lang="en-US" sz="1850" dirty="0"/>
          </a:p>
        </p:txBody>
      </p:sp>
      <p:pic>
        <p:nvPicPr>
          <p:cNvPr id="9" name="Imagen 8"/>
          <p:cNvPicPr>
            <a:picLocks noChangeAspect="1"/>
          </p:cNvPicPr>
          <p:nvPr/>
        </p:nvPicPr>
        <p:blipFill>
          <a:blip r:embed="rId3"/>
          <a:stretch>
            <a:fillRect/>
          </a:stretch>
        </p:blipFill>
        <p:spPr>
          <a:xfrm>
            <a:off x="0" y="0"/>
            <a:ext cx="5284033"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31150" y="902970"/>
            <a:ext cx="7594997" cy="530423"/>
          </a:xfrm>
          <a:prstGeom prst="rect">
            <a:avLst/>
          </a:prstGeom>
          <a:noFill/>
          <a:ln/>
        </p:spPr>
        <p:txBody>
          <a:bodyPr wrap="none" lIns="0" tIns="0" rIns="0" bIns="0" rtlCol="0" anchor="t"/>
          <a:lstStyle/>
          <a:p>
            <a:pPr marL="0" indent="0" algn="l">
              <a:lnSpc>
                <a:spcPts val="4150"/>
              </a:lnSpc>
              <a:buNone/>
            </a:pPr>
            <a:r>
              <a:rPr lang="en-US" sz="3300" b="1" dirty="0">
                <a:solidFill>
                  <a:srgbClr val="FFFFFF"/>
                </a:solidFill>
                <a:latin typeface="Overpass Bold" pitchFamily="34" charset="0"/>
                <a:ea typeface="Overpass Bold" pitchFamily="34" charset="-122"/>
                <a:cs typeface="Overpass Bold" pitchFamily="34" charset="-120"/>
              </a:rPr>
              <a:t>Historia y Fundamentos Empresariales</a:t>
            </a:r>
            <a:endParaRPr lang="en-US" sz="3300" dirty="0"/>
          </a:p>
        </p:txBody>
      </p:sp>
      <p:sp>
        <p:nvSpPr>
          <p:cNvPr id="4" name="Shape 1"/>
          <p:cNvSpPr/>
          <p:nvPr/>
        </p:nvSpPr>
        <p:spPr>
          <a:xfrm>
            <a:off x="833914" y="1703784"/>
            <a:ext cx="22860" cy="4265652"/>
          </a:xfrm>
          <a:prstGeom prst="roundRect">
            <a:avLst>
              <a:gd name="adj" fmla="val 331313"/>
            </a:avLst>
          </a:prstGeom>
          <a:solidFill>
            <a:srgbClr val="971B55"/>
          </a:solidFill>
          <a:ln/>
        </p:spPr>
      </p:sp>
      <p:sp>
        <p:nvSpPr>
          <p:cNvPr id="5" name="Shape 2"/>
          <p:cNvSpPr/>
          <p:nvPr/>
        </p:nvSpPr>
        <p:spPr>
          <a:xfrm>
            <a:off x="1013877" y="1895118"/>
            <a:ext cx="540901" cy="22860"/>
          </a:xfrm>
          <a:prstGeom prst="roundRect">
            <a:avLst>
              <a:gd name="adj" fmla="val 331313"/>
            </a:avLst>
          </a:prstGeom>
          <a:solidFill>
            <a:srgbClr val="971B55"/>
          </a:solidFill>
          <a:ln/>
        </p:spPr>
      </p:sp>
      <p:sp>
        <p:nvSpPr>
          <p:cNvPr id="6" name="Shape 3"/>
          <p:cNvSpPr/>
          <p:nvPr/>
        </p:nvSpPr>
        <p:spPr>
          <a:xfrm>
            <a:off x="631091" y="1703784"/>
            <a:ext cx="405646" cy="405646"/>
          </a:xfrm>
          <a:prstGeom prst="roundRect">
            <a:avLst>
              <a:gd name="adj" fmla="val 18671"/>
            </a:avLst>
          </a:prstGeom>
          <a:solidFill>
            <a:srgbClr val="7E023C"/>
          </a:solidFill>
          <a:ln w="7620">
            <a:solidFill>
              <a:srgbClr val="971B55"/>
            </a:solidFill>
            <a:prstDash val="solid"/>
          </a:ln>
        </p:spPr>
      </p:sp>
      <p:sp>
        <p:nvSpPr>
          <p:cNvPr id="7" name="Text 4"/>
          <p:cNvSpPr/>
          <p:nvPr/>
        </p:nvSpPr>
        <p:spPr>
          <a:xfrm>
            <a:off x="706576" y="1747480"/>
            <a:ext cx="254556" cy="318135"/>
          </a:xfrm>
          <a:prstGeom prst="rect">
            <a:avLst/>
          </a:prstGeom>
          <a:noFill/>
          <a:ln/>
        </p:spPr>
        <p:txBody>
          <a:bodyPr wrap="none" lIns="0" tIns="0" rIns="0" bIns="0" rtlCol="0" anchor="t"/>
          <a:lstStyle/>
          <a:p>
            <a:pPr marL="0" indent="0" algn="ctr">
              <a:lnSpc>
                <a:spcPts val="2000"/>
              </a:lnSpc>
              <a:buNone/>
            </a:pPr>
            <a:r>
              <a:rPr lang="en-US" sz="2000" b="1" dirty="0">
                <a:solidFill>
                  <a:srgbClr val="E5E0DF"/>
                </a:solidFill>
                <a:latin typeface="Overpass Bold" pitchFamily="34" charset="0"/>
                <a:ea typeface="Overpass Bold" pitchFamily="34" charset="-122"/>
                <a:cs typeface="Overpass Bold" pitchFamily="34" charset="-120"/>
              </a:rPr>
              <a:t>1</a:t>
            </a:r>
            <a:endParaRPr lang="en-US" sz="2000" dirty="0"/>
          </a:p>
        </p:txBody>
      </p:sp>
      <p:sp>
        <p:nvSpPr>
          <p:cNvPr id="8" name="Text 5"/>
          <p:cNvSpPr/>
          <p:nvPr/>
        </p:nvSpPr>
        <p:spPr>
          <a:xfrm>
            <a:off x="1735574" y="1765697"/>
            <a:ext cx="2121456" cy="265152"/>
          </a:xfrm>
          <a:prstGeom prst="rect">
            <a:avLst/>
          </a:prstGeom>
          <a:noFill/>
          <a:ln/>
        </p:spPr>
        <p:txBody>
          <a:bodyPr wrap="none" lIns="0" tIns="0" rIns="0" bIns="0" rtlCol="0" anchor="t"/>
          <a:lstStyle/>
          <a:p>
            <a:pPr marL="0" indent="0" algn="l">
              <a:lnSpc>
                <a:spcPts val="2050"/>
              </a:lnSpc>
              <a:buNone/>
            </a:pPr>
            <a:r>
              <a:rPr lang="en-US" sz="1650" b="1" dirty="0">
                <a:solidFill>
                  <a:srgbClr val="E5E0DF"/>
                </a:solidFill>
                <a:latin typeface="Overpass Bold" pitchFamily="34" charset="0"/>
                <a:ea typeface="Overpass Bold" pitchFamily="34" charset="-122"/>
                <a:cs typeface="Overpass Bold" pitchFamily="34" charset="-120"/>
              </a:rPr>
              <a:t>Fundación (1954)</a:t>
            </a:r>
            <a:endParaRPr lang="en-US" sz="1650" dirty="0"/>
          </a:p>
        </p:txBody>
      </p:sp>
      <p:sp>
        <p:nvSpPr>
          <p:cNvPr id="9" name="Text 6"/>
          <p:cNvSpPr/>
          <p:nvPr/>
        </p:nvSpPr>
        <p:spPr>
          <a:xfrm>
            <a:off x="1735574" y="2138958"/>
            <a:ext cx="6777276" cy="577215"/>
          </a:xfrm>
          <a:prstGeom prst="rect">
            <a:avLst/>
          </a:prstGeom>
          <a:noFill/>
          <a:ln/>
        </p:spPr>
        <p:txBody>
          <a:bodyPr wrap="square" lIns="0" tIns="0" rIns="0" bIns="0" rtlCol="0" anchor="t"/>
          <a:lstStyle/>
          <a:p>
            <a:pPr marL="0" indent="0" algn="l">
              <a:lnSpc>
                <a:spcPts val="2250"/>
              </a:lnSpc>
              <a:buNone/>
            </a:pPr>
            <a:r>
              <a:rPr lang="en-US" sz="1400" dirty="0">
                <a:solidFill>
                  <a:srgbClr val="E5E0DF"/>
                </a:solidFill>
                <a:latin typeface="Overpass" pitchFamily="34" charset="0"/>
                <a:ea typeface="Overpass" pitchFamily="34" charset="-122"/>
                <a:cs typeface="Overpass" pitchFamily="34" charset="-120"/>
              </a:rPr>
              <a:t>Establecida por Robert I. Toledano M. bajo la denominación de Hacienda La Istmeña S.A.</a:t>
            </a:r>
            <a:endParaRPr lang="en-US" sz="1400" dirty="0"/>
          </a:p>
        </p:txBody>
      </p:sp>
      <p:sp>
        <p:nvSpPr>
          <p:cNvPr id="10" name="Shape 7"/>
          <p:cNvSpPr/>
          <p:nvPr/>
        </p:nvSpPr>
        <p:spPr>
          <a:xfrm>
            <a:off x="1013877" y="3268147"/>
            <a:ext cx="540901" cy="22860"/>
          </a:xfrm>
          <a:prstGeom prst="roundRect">
            <a:avLst>
              <a:gd name="adj" fmla="val 331313"/>
            </a:avLst>
          </a:prstGeom>
          <a:solidFill>
            <a:srgbClr val="971B55"/>
          </a:solidFill>
          <a:ln/>
        </p:spPr>
      </p:sp>
      <p:sp>
        <p:nvSpPr>
          <p:cNvPr id="11" name="Shape 8"/>
          <p:cNvSpPr/>
          <p:nvPr/>
        </p:nvSpPr>
        <p:spPr>
          <a:xfrm>
            <a:off x="631091" y="3076813"/>
            <a:ext cx="405646" cy="405646"/>
          </a:xfrm>
          <a:prstGeom prst="roundRect">
            <a:avLst>
              <a:gd name="adj" fmla="val 18671"/>
            </a:avLst>
          </a:prstGeom>
          <a:solidFill>
            <a:srgbClr val="7E023C"/>
          </a:solidFill>
          <a:ln w="7620">
            <a:solidFill>
              <a:srgbClr val="971B55"/>
            </a:solidFill>
            <a:prstDash val="solid"/>
          </a:ln>
        </p:spPr>
      </p:sp>
      <p:sp>
        <p:nvSpPr>
          <p:cNvPr id="12" name="Text 9"/>
          <p:cNvSpPr/>
          <p:nvPr/>
        </p:nvSpPr>
        <p:spPr>
          <a:xfrm>
            <a:off x="706576" y="3120509"/>
            <a:ext cx="254556" cy="318135"/>
          </a:xfrm>
          <a:prstGeom prst="rect">
            <a:avLst/>
          </a:prstGeom>
          <a:noFill/>
          <a:ln/>
        </p:spPr>
        <p:txBody>
          <a:bodyPr wrap="none" lIns="0" tIns="0" rIns="0" bIns="0" rtlCol="0" anchor="t"/>
          <a:lstStyle/>
          <a:p>
            <a:pPr marL="0" indent="0" algn="ctr">
              <a:lnSpc>
                <a:spcPts val="2000"/>
              </a:lnSpc>
              <a:buNone/>
            </a:pPr>
            <a:r>
              <a:rPr lang="en-US" sz="2000" b="1" dirty="0">
                <a:solidFill>
                  <a:srgbClr val="E5E0DF"/>
                </a:solidFill>
                <a:latin typeface="Overpass Bold" pitchFamily="34" charset="0"/>
                <a:ea typeface="Overpass Bold" pitchFamily="34" charset="-122"/>
                <a:cs typeface="Overpass Bold" pitchFamily="34" charset="-120"/>
              </a:rPr>
              <a:t>2</a:t>
            </a:r>
            <a:endParaRPr lang="en-US" sz="2000" dirty="0"/>
          </a:p>
        </p:txBody>
      </p:sp>
      <p:sp>
        <p:nvSpPr>
          <p:cNvPr id="13" name="Text 10"/>
          <p:cNvSpPr/>
          <p:nvPr/>
        </p:nvSpPr>
        <p:spPr>
          <a:xfrm>
            <a:off x="1735574" y="3138726"/>
            <a:ext cx="2121456" cy="265152"/>
          </a:xfrm>
          <a:prstGeom prst="rect">
            <a:avLst/>
          </a:prstGeom>
          <a:noFill/>
          <a:ln/>
        </p:spPr>
        <p:txBody>
          <a:bodyPr wrap="none" lIns="0" tIns="0" rIns="0" bIns="0" rtlCol="0" anchor="t"/>
          <a:lstStyle/>
          <a:p>
            <a:pPr marL="0" indent="0" algn="l">
              <a:lnSpc>
                <a:spcPts val="2050"/>
              </a:lnSpc>
              <a:buNone/>
            </a:pPr>
            <a:r>
              <a:rPr lang="en-US" sz="1650" b="1" dirty="0">
                <a:solidFill>
                  <a:srgbClr val="E5E0DF"/>
                </a:solidFill>
                <a:latin typeface="Overpass Bold" pitchFamily="34" charset="0"/>
                <a:ea typeface="Overpass Bold" pitchFamily="34" charset="-122"/>
                <a:cs typeface="Overpass Bold" pitchFamily="34" charset="-120"/>
              </a:rPr>
              <a:t>Consolidación</a:t>
            </a:r>
            <a:endParaRPr lang="en-US" sz="1650" dirty="0"/>
          </a:p>
        </p:txBody>
      </p:sp>
      <p:sp>
        <p:nvSpPr>
          <p:cNvPr id="14" name="Text 11"/>
          <p:cNvSpPr/>
          <p:nvPr/>
        </p:nvSpPr>
        <p:spPr>
          <a:xfrm>
            <a:off x="1735574" y="3511987"/>
            <a:ext cx="6777276" cy="288608"/>
          </a:xfrm>
          <a:prstGeom prst="rect">
            <a:avLst/>
          </a:prstGeom>
          <a:noFill/>
          <a:ln/>
        </p:spPr>
        <p:txBody>
          <a:bodyPr wrap="none" lIns="0" tIns="0" rIns="0" bIns="0" rtlCol="0" anchor="t"/>
          <a:lstStyle/>
          <a:p>
            <a:pPr marL="0" indent="0" algn="l">
              <a:lnSpc>
                <a:spcPts val="2250"/>
              </a:lnSpc>
              <a:buNone/>
            </a:pPr>
            <a:r>
              <a:rPr lang="en-US" sz="1400" dirty="0">
                <a:solidFill>
                  <a:srgbClr val="E5E0DF"/>
                </a:solidFill>
                <a:latin typeface="Overpass" pitchFamily="34" charset="0"/>
                <a:ea typeface="Overpass" pitchFamily="34" charset="-122"/>
                <a:cs typeface="Overpass" pitchFamily="34" charset="-120"/>
              </a:rPr>
              <a:t>Desarrollo como líder en la industria avícola nacional.</a:t>
            </a:r>
            <a:endParaRPr lang="en-US" sz="1400" dirty="0"/>
          </a:p>
        </p:txBody>
      </p:sp>
      <p:sp>
        <p:nvSpPr>
          <p:cNvPr id="15" name="Shape 12"/>
          <p:cNvSpPr/>
          <p:nvPr/>
        </p:nvSpPr>
        <p:spPr>
          <a:xfrm>
            <a:off x="1013877" y="4352568"/>
            <a:ext cx="540901" cy="22860"/>
          </a:xfrm>
          <a:prstGeom prst="roundRect">
            <a:avLst>
              <a:gd name="adj" fmla="val 331313"/>
            </a:avLst>
          </a:prstGeom>
          <a:solidFill>
            <a:srgbClr val="971B55"/>
          </a:solidFill>
          <a:ln/>
        </p:spPr>
      </p:sp>
      <p:sp>
        <p:nvSpPr>
          <p:cNvPr id="16" name="Shape 13"/>
          <p:cNvSpPr/>
          <p:nvPr/>
        </p:nvSpPr>
        <p:spPr>
          <a:xfrm>
            <a:off x="631091" y="4161234"/>
            <a:ext cx="405646" cy="405646"/>
          </a:xfrm>
          <a:prstGeom prst="roundRect">
            <a:avLst>
              <a:gd name="adj" fmla="val 18671"/>
            </a:avLst>
          </a:prstGeom>
          <a:solidFill>
            <a:srgbClr val="7E023C"/>
          </a:solidFill>
          <a:ln w="7620">
            <a:solidFill>
              <a:srgbClr val="971B55"/>
            </a:solidFill>
            <a:prstDash val="solid"/>
          </a:ln>
        </p:spPr>
      </p:sp>
      <p:sp>
        <p:nvSpPr>
          <p:cNvPr id="17" name="Text 14"/>
          <p:cNvSpPr/>
          <p:nvPr/>
        </p:nvSpPr>
        <p:spPr>
          <a:xfrm>
            <a:off x="706576" y="4204930"/>
            <a:ext cx="254556" cy="318135"/>
          </a:xfrm>
          <a:prstGeom prst="rect">
            <a:avLst/>
          </a:prstGeom>
          <a:noFill/>
          <a:ln/>
        </p:spPr>
        <p:txBody>
          <a:bodyPr wrap="none" lIns="0" tIns="0" rIns="0" bIns="0" rtlCol="0" anchor="t"/>
          <a:lstStyle/>
          <a:p>
            <a:pPr marL="0" indent="0" algn="ctr">
              <a:lnSpc>
                <a:spcPts val="2000"/>
              </a:lnSpc>
              <a:buNone/>
            </a:pPr>
            <a:r>
              <a:rPr lang="en-US" sz="2000" b="1" dirty="0">
                <a:solidFill>
                  <a:srgbClr val="E5E0DF"/>
                </a:solidFill>
                <a:latin typeface="Overpass Bold" pitchFamily="34" charset="0"/>
                <a:ea typeface="Overpass Bold" pitchFamily="34" charset="-122"/>
                <a:cs typeface="Overpass Bold" pitchFamily="34" charset="-120"/>
              </a:rPr>
              <a:t>3</a:t>
            </a:r>
            <a:endParaRPr lang="en-US" sz="2000" dirty="0"/>
          </a:p>
        </p:txBody>
      </p:sp>
      <p:sp>
        <p:nvSpPr>
          <p:cNvPr id="18" name="Text 15"/>
          <p:cNvSpPr/>
          <p:nvPr/>
        </p:nvSpPr>
        <p:spPr>
          <a:xfrm>
            <a:off x="1735574" y="4223147"/>
            <a:ext cx="2121456" cy="265152"/>
          </a:xfrm>
          <a:prstGeom prst="rect">
            <a:avLst/>
          </a:prstGeom>
          <a:noFill/>
          <a:ln/>
        </p:spPr>
        <p:txBody>
          <a:bodyPr wrap="none" lIns="0" tIns="0" rIns="0" bIns="0" rtlCol="0" anchor="t"/>
          <a:lstStyle/>
          <a:p>
            <a:pPr marL="0" indent="0" algn="l">
              <a:lnSpc>
                <a:spcPts val="2050"/>
              </a:lnSpc>
              <a:buNone/>
            </a:pPr>
            <a:r>
              <a:rPr lang="en-US" sz="1650" b="1" dirty="0">
                <a:solidFill>
                  <a:srgbClr val="E5E0DF"/>
                </a:solidFill>
                <a:latin typeface="Overpass Bold" pitchFamily="34" charset="0"/>
                <a:ea typeface="Overpass Bold" pitchFamily="34" charset="-122"/>
                <a:cs typeface="Overpass Bold" pitchFamily="34" charset="-120"/>
              </a:rPr>
              <a:t>Expansión</a:t>
            </a:r>
            <a:endParaRPr lang="en-US" sz="1650" dirty="0"/>
          </a:p>
        </p:txBody>
      </p:sp>
      <p:sp>
        <p:nvSpPr>
          <p:cNvPr id="19" name="Text 16"/>
          <p:cNvSpPr/>
          <p:nvPr/>
        </p:nvSpPr>
        <p:spPr>
          <a:xfrm>
            <a:off x="1735574" y="4596408"/>
            <a:ext cx="6777276" cy="288608"/>
          </a:xfrm>
          <a:prstGeom prst="rect">
            <a:avLst/>
          </a:prstGeom>
          <a:noFill/>
          <a:ln/>
        </p:spPr>
        <p:txBody>
          <a:bodyPr wrap="none" lIns="0" tIns="0" rIns="0" bIns="0" rtlCol="0" anchor="t"/>
          <a:lstStyle/>
          <a:p>
            <a:pPr marL="0" indent="0" algn="l">
              <a:lnSpc>
                <a:spcPts val="2250"/>
              </a:lnSpc>
              <a:buNone/>
            </a:pPr>
            <a:r>
              <a:rPr lang="en-US" sz="1400" dirty="0">
                <a:solidFill>
                  <a:srgbClr val="E5E0DF"/>
                </a:solidFill>
                <a:latin typeface="Overpass" pitchFamily="34" charset="0"/>
                <a:ea typeface="Overpass" pitchFamily="34" charset="-122"/>
                <a:cs typeface="Overpass" pitchFamily="34" charset="-120"/>
              </a:rPr>
              <a:t>Crecimiento y diversificación de productos y mercados.</a:t>
            </a:r>
            <a:endParaRPr lang="en-US" sz="1400" dirty="0"/>
          </a:p>
        </p:txBody>
      </p:sp>
      <p:sp>
        <p:nvSpPr>
          <p:cNvPr id="20" name="Shape 17"/>
          <p:cNvSpPr/>
          <p:nvPr/>
        </p:nvSpPr>
        <p:spPr>
          <a:xfrm>
            <a:off x="1013877" y="5436989"/>
            <a:ext cx="540901" cy="22860"/>
          </a:xfrm>
          <a:prstGeom prst="roundRect">
            <a:avLst>
              <a:gd name="adj" fmla="val 331313"/>
            </a:avLst>
          </a:prstGeom>
          <a:solidFill>
            <a:srgbClr val="971B55"/>
          </a:solidFill>
          <a:ln/>
        </p:spPr>
      </p:sp>
      <p:sp>
        <p:nvSpPr>
          <p:cNvPr id="21" name="Shape 18"/>
          <p:cNvSpPr/>
          <p:nvPr/>
        </p:nvSpPr>
        <p:spPr>
          <a:xfrm>
            <a:off x="631091" y="5245656"/>
            <a:ext cx="405646" cy="405646"/>
          </a:xfrm>
          <a:prstGeom prst="roundRect">
            <a:avLst>
              <a:gd name="adj" fmla="val 18671"/>
            </a:avLst>
          </a:prstGeom>
          <a:solidFill>
            <a:srgbClr val="7E023C"/>
          </a:solidFill>
          <a:ln w="7620">
            <a:solidFill>
              <a:srgbClr val="971B55"/>
            </a:solidFill>
            <a:prstDash val="solid"/>
          </a:ln>
        </p:spPr>
      </p:sp>
      <p:sp>
        <p:nvSpPr>
          <p:cNvPr id="22" name="Text 19"/>
          <p:cNvSpPr/>
          <p:nvPr/>
        </p:nvSpPr>
        <p:spPr>
          <a:xfrm>
            <a:off x="706576" y="5289352"/>
            <a:ext cx="254556" cy="318135"/>
          </a:xfrm>
          <a:prstGeom prst="rect">
            <a:avLst/>
          </a:prstGeom>
          <a:noFill/>
          <a:ln/>
        </p:spPr>
        <p:txBody>
          <a:bodyPr wrap="none" lIns="0" tIns="0" rIns="0" bIns="0" rtlCol="0" anchor="t"/>
          <a:lstStyle/>
          <a:p>
            <a:pPr marL="0" indent="0" algn="ctr">
              <a:lnSpc>
                <a:spcPts val="2000"/>
              </a:lnSpc>
              <a:buNone/>
            </a:pPr>
            <a:r>
              <a:rPr lang="en-US" sz="2000" b="1" dirty="0">
                <a:solidFill>
                  <a:srgbClr val="E5E0DF"/>
                </a:solidFill>
                <a:latin typeface="Overpass Bold" pitchFamily="34" charset="0"/>
                <a:ea typeface="Overpass Bold" pitchFamily="34" charset="-122"/>
                <a:cs typeface="Overpass Bold" pitchFamily="34" charset="-120"/>
              </a:rPr>
              <a:t>4</a:t>
            </a:r>
            <a:endParaRPr lang="en-US" sz="2000" dirty="0"/>
          </a:p>
        </p:txBody>
      </p:sp>
      <p:sp>
        <p:nvSpPr>
          <p:cNvPr id="23" name="Text 20"/>
          <p:cNvSpPr/>
          <p:nvPr/>
        </p:nvSpPr>
        <p:spPr>
          <a:xfrm>
            <a:off x="1735574" y="5307568"/>
            <a:ext cx="2121456" cy="265152"/>
          </a:xfrm>
          <a:prstGeom prst="rect">
            <a:avLst/>
          </a:prstGeom>
          <a:noFill/>
          <a:ln/>
        </p:spPr>
        <p:txBody>
          <a:bodyPr wrap="none" lIns="0" tIns="0" rIns="0" bIns="0" rtlCol="0" anchor="t"/>
          <a:lstStyle/>
          <a:p>
            <a:pPr marL="0" indent="0" algn="l">
              <a:lnSpc>
                <a:spcPts val="2050"/>
              </a:lnSpc>
              <a:buNone/>
            </a:pPr>
            <a:r>
              <a:rPr lang="en-US" sz="1650" b="1" dirty="0">
                <a:solidFill>
                  <a:srgbClr val="E5E0DF"/>
                </a:solidFill>
                <a:latin typeface="Overpass Bold" pitchFamily="34" charset="0"/>
                <a:ea typeface="Overpass Bold" pitchFamily="34" charset="-122"/>
                <a:cs typeface="Overpass Bold" pitchFamily="34" charset="-120"/>
              </a:rPr>
              <a:t>Actualidad</a:t>
            </a:r>
            <a:endParaRPr lang="en-US" sz="1650" dirty="0"/>
          </a:p>
        </p:txBody>
      </p:sp>
      <p:sp>
        <p:nvSpPr>
          <p:cNvPr id="24" name="Text 21"/>
          <p:cNvSpPr/>
          <p:nvPr/>
        </p:nvSpPr>
        <p:spPr>
          <a:xfrm>
            <a:off x="1735574" y="5680829"/>
            <a:ext cx="6777276" cy="288608"/>
          </a:xfrm>
          <a:prstGeom prst="rect">
            <a:avLst/>
          </a:prstGeom>
          <a:noFill/>
          <a:ln/>
        </p:spPr>
        <p:txBody>
          <a:bodyPr wrap="none" lIns="0" tIns="0" rIns="0" bIns="0" rtlCol="0" anchor="t"/>
          <a:lstStyle/>
          <a:p>
            <a:pPr marL="0" indent="0" algn="l">
              <a:lnSpc>
                <a:spcPts val="2250"/>
              </a:lnSpc>
              <a:buNone/>
            </a:pPr>
            <a:r>
              <a:rPr lang="en-US" sz="1400" dirty="0">
                <a:solidFill>
                  <a:srgbClr val="E5E0DF"/>
                </a:solidFill>
                <a:latin typeface="Overpass" pitchFamily="34" charset="0"/>
                <a:ea typeface="Overpass" pitchFamily="34" charset="-122"/>
                <a:cs typeface="Overpass" pitchFamily="34" charset="-120"/>
              </a:rPr>
              <a:t>Empresa consolidada con más de 2,200 colaboradores y presencia internacional.</a:t>
            </a:r>
            <a:endParaRPr lang="en-US" sz="1400" dirty="0"/>
          </a:p>
        </p:txBody>
      </p:sp>
      <p:sp>
        <p:nvSpPr>
          <p:cNvPr id="25" name="Text 22"/>
          <p:cNvSpPr/>
          <p:nvPr/>
        </p:nvSpPr>
        <p:spPr>
          <a:xfrm>
            <a:off x="631150" y="6172200"/>
            <a:ext cx="7881699" cy="1154430"/>
          </a:xfrm>
          <a:prstGeom prst="rect">
            <a:avLst/>
          </a:prstGeom>
          <a:noFill/>
          <a:ln/>
        </p:spPr>
        <p:txBody>
          <a:bodyPr wrap="square" lIns="0" tIns="0" rIns="0" bIns="0" rtlCol="0" anchor="t"/>
          <a:lstStyle/>
          <a:p>
            <a:pPr marL="0" indent="0" algn="l">
              <a:lnSpc>
                <a:spcPts val="2250"/>
              </a:lnSpc>
              <a:buNone/>
            </a:pPr>
            <a:r>
              <a:rPr lang="en-US" sz="1400" dirty="0">
                <a:solidFill>
                  <a:srgbClr val="E5E0DF"/>
                </a:solidFill>
                <a:latin typeface="Overpass" pitchFamily="34" charset="0"/>
                <a:ea typeface="Overpass" pitchFamily="34" charset="-122"/>
                <a:cs typeface="Overpass" pitchFamily="34" charset="-120"/>
              </a:rPr>
              <a:t>Productos Toledano ha recorrido un largo camino desde sus humildes inicios en 1954. A través de décadas de trabajo constante, la empresa ha evolucionado hasta convertirse en un referente de la industria alimentaria panameña, manteniendo siempre su compromiso con la calidad y la innovación como pilares fundamentales de su desarrollo.</a:t>
            </a:r>
            <a:endParaRPr lang="en-US" sz="1400" dirty="0"/>
          </a:p>
        </p:txBody>
      </p:sp>
      <p:pic>
        <p:nvPicPr>
          <p:cNvPr id="26" name="Imagen 25"/>
          <p:cNvPicPr>
            <a:picLocks noChangeAspect="1"/>
          </p:cNvPicPr>
          <p:nvPr/>
        </p:nvPicPr>
        <p:blipFill>
          <a:blip r:embed="rId3"/>
          <a:stretch>
            <a:fillRect/>
          </a:stretch>
        </p:blipFill>
        <p:spPr>
          <a:xfrm>
            <a:off x="9031574" y="0"/>
            <a:ext cx="5598826" cy="8229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4023" y="593050"/>
            <a:ext cx="5508784" cy="633651"/>
          </a:xfrm>
          <a:prstGeom prst="rect">
            <a:avLst/>
          </a:prstGeom>
          <a:noFill/>
          <a:ln/>
        </p:spPr>
        <p:txBody>
          <a:bodyPr wrap="none" lIns="0" tIns="0" rIns="0" bIns="0" rtlCol="0" anchor="t"/>
          <a:lstStyle/>
          <a:p>
            <a:pPr marL="0" indent="0" algn="l">
              <a:lnSpc>
                <a:spcPts val="4950"/>
              </a:lnSpc>
              <a:buNone/>
            </a:pPr>
            <a:r>
              <a:rPr lang="en-US" sz="3950" b="1" dirty="0">
                <a:solidFill>
                  <a:srgbClr val="FFFFFF"/>
                </a:solidFill>
                <a:latin typeface="Overpass Bold" pitchFamily="34" charset="0"/>
                <a:ea typeface="Overpass Bold" pitchFamily="34" charset="-122"/>
                <a:cs typeface="Overpass Bold" pitchFamily="34" charset="-120"/>
              </a:rPr>
              <a:t>Misión, Visión y Valores</a:t>
            </a:r>
            <a:endParaRPr lang="en-US" sz="3950" dirty="0"/>
          </a:p>
        </p:txBody>
      </p:sp>
      <p:pic>
        <p:nvPicPr>
          <p:cNvPr id="3" name="Image 0" descr="preencoded.png"/>
          <p:cNvPicPr>
            <a:picLocks noChangeAspect="1"/>
          </p:cNvPicPr>
          <p:nvPr/>
        </p:nvPicPr>
        <p:blipFill>
          <a:blip r:embed="rId3"/>
          <a:stretch>
            <a:fillRect/>
          </a:stretch>
        </p:blipFill>
        <p:spPr>
          <a:xfrm>
            <a:off x="2951917" y="1657469"/>
            <a:ext cx="2165152" cy="1221343"/>
          </a:xfrm>
          <a:prstGeom prst="rect">
            <a:avLst/>
          </a:prstGeom>
        </p:spPr>
      </p:pic>
      <p:pic>
        <p:nvPicPr>
          <p:cNvPr id="4" name="Image 1" descr="preencoded.png"/>
          <p:cNvPicPr>
            <a:picLocks noChangeAspect="1"/>
          </p:cNvPicPr>
          <p:nvPr/>
        </p:nvPicPr>
        <p:blipFill>
          <a:blip r:embed="rId4"/>
          <a:stretch>
            <a:fillRect/>
          </a:stretch>
        </p:blipFill>
        <p:spPr>
          <a:xfrm>
            <a:off x="3882985" y="2229683"/>
            <a:ext cx="302895" cy="378619"/>
          </a:xfrm>
          <a:prstGeom prst="rect">
            <a:avLst/>
          </a:prstGeom>
        </p:spPr>
      </p:pic>
      <p:sp>
        <p:nvSpPr>
          <p:cNvPr id="5" name="Text 1"/>
          <p:cNvSpPr/>
          <p:nvPr/>
        </p:nvSpPr>
        <p:spPr>
          <a:xfrm>
            <a:off x="5332452" y="1872853"/>
            <a:ext cx="2534603" cy="316825"/>
          </a:xfrm>
          <a:prstGeom prst="rect">
            <a:avLst/>
          </a:prstGeom>
          <a:noFill/>
          <a:ln/>
        </p:spPr>
        <p:txBody>
          <a:bodyPr wrap="none" lIns="0" tIns="0" rIns="0" bIns="0" rtlCol="0" anchor="t"/>
          <a:lstStyle/>
          <a:p>
            <a:pPr marL="0" indent="0" algn="l">
              <a:lnSpc>
                <a:spcPts val="2450"/>
              </a:lnSpc>
              <a:buNone/>
            </a:pPr>
            <a:r>
              <a:rPr lang="en-US" sz="1950" b="1" dirty="0">
                <a:solidFill>
                  <a:srgbClr val="E5E0DF"/>
                </a:solidFill>
                <a:latin typeface="Overpass Bold" pitchFamily="34" charset="0"/>
                <a:ea typeface="Overpass Bold" pitchFamily="34" charset="-122"/>
                <a:cs typeface="Overpass Bold" pitchFamily="34" charset="-120"/>
              </a:rPr>
              <a:t>Visión</a:t>
            </a:r>
            <a:endParaRPr lang="en-US" sz="1950" dirty="0"/>
          </a:p>
        </p:txBody>
      </p:sp>
      <p:sp>
        <p:nvSpPr>
          <p:cNvPr id="6" name="Text 2"/>
          <p:cNvSpPr/>
          <p:nvPr/>
        </p:nvSpPr>
        <p:spPr>
          <a:xfrm>
            <a:off x="5332452" y="2318861"/>
            <a:ext cx="3444002" cy="344567"/>
          </a:xfrm>
          <a:prstGeom prst="rect">
            <a:avLst/>
          </a:prstGeom>
          <a:noFill/>
          <a:ln/>
        </p:spPr>
        <p:txBody>
          <a:bodyPr wrap="none" lIns="0" tIns="0" rIns="0" bIns="0" rtlCol="0" anchor="t"/>
          <a:lstStyle/>
          <a:p>
            <a:pPr marL="0" indent="0" algn="l">
              <a:lnSpc>
                <a:spcPts val="2700"/>
              </a:lnSpc>
              <a:buNone/>
            </a:pPr>
            <a:r>
              <a:rPr lang="en-US" sz="1650" dirty="0">
                <a:solidFill>
                  <a:srgbClr val="E5E0DF"/>
                </a:solidFill>
                <a:latin typeface="Overpass" pitchFamily="34" charset="0"/>
                <a:ea typeface="Overpass" pitchFamily="34" charset="-122"/>
                <a:cs typeface="Overpass" pitchFamily="34" charset="-120"/>
              </a:rPr>
              <a:t>Líderes innovadores a nivel regional</a:t>
            </a:r>
            <a:endParaRPr lang="en-US" sz="1650" dirty="0"/>
          </a:p>
        </p:txBody>
      </p:sp>
      <p:sp>
        <p:nvSpPr>
          <p:cNvPr id="7" name="Shape 3"/>
          <p:cNvSpPr/>
          <p:nvPr/>
        </p:nvSpPr>
        <p:spPr>
          <a:xfrm>
            <a:off x="5170884" y="2890480"/>
            <a:ext cx="8651677" cy="15240"/>
          </a:xfrm>
          <a:prstGeom prst="roundRect">
            <a:avLst>
              <a:gd name="adj" fmla="val 593740"/>
            </a:avLst>
          </a:prstGeom>
          <a:solidFill>
            <a:srgbClr val="971B55"/>
          </a:solidFill>
          <a:ln/>
        </p:spPr>
      </p:sp>
      <p:pic>
        <p:nvPicPr>
          <p:cNvPr id="8" name="Image 2" descr="preencoded.png"/>
          <p:cNvPicPr>
            <a:picLocks noChangeAspect="1"/>
          </p:cNvPicPr>
          <p:nvPr/>
        </p:nvPicPr>
        <p:blipFill>
          <a:blip r:embed="rId5"/>
          <a:stretch>
            <a:fillRect/>
          </a:stretch>
        </p:blipFill>
        <p:spPr>
          <a:xfrm>
            <a:off x="1869400" y="2932628"/>
            <a:ext cx="4330303" cy="1221343"/>
          </a:xfrm>
          <a:prstGeom prst="rect">
            <a:avLst/>
          </a:prstGeom>
        </p:spPr>
      </p:pic>
      <p:pic>
        <p:nvPicPr>
          <p:cNvPr id="9" name="Image 3" descr="preencoded.png"/>
          <p:cNvPicPr>
            <a:picLocks noChangeAspect="1"/>
          </p:cNvPicPr>
          <p:nvPr/>
        </p:nvPicPr>
        <p:blipFill>
          <a:blip r:embed="rId6"/>
          <a:stretch>
            <a:fillRect/>
          </a:stretch>
        </p:blipFill>
        <p:spPr>
          <a:xfrm>
            <a:off x="3882985" y="3353991"/>
            <a:ext cx="302895" cy="378619"/>
          </a:xfrm>
          <a:prstGeom prst="rect">
            <a:avLst/>
          </a:prstGeom>
        </p:spPr>
      </p:pic>
      <p:sp>
        <p:nvSpPr>
          <p:cNvPr id="10" name="Text 4"/>
          <p:cNvSpPr/>
          <p:nvPr/>
        </p:nvSpPr>
        <p:spPr>
          <a:xfrm>
            <a:off x="6415088" y="3148013"/>
            <a:ext cx="2534603" cy="316825"/>
          </a:xfrm>
          <a:prstGeom prst="rect">
            <a:avLst/>
          </a:prstGeom>
          <a:noFill/>
          <a:ln/>
        </p:spPr>
        <p:txBody>
          <a:bodyPr wrap="none" lIns="0" tIns="0" rIns="0" bIns="0" rtlCol="0" anchor="t"/>
          <a:lstStyle/>
          <a:p>
            <a:pPr marL="0" indent="0" algn="l">
              <a:lnSpc>
                <a:spcPts val="2450"/>
              </a:lnSpc>
              <a:buNone/>
            </a:pPr>
            <a:r>
              <a:rPr lang="en-US" sz="1950" b="1" dirty="0">
                <a:solidFill>
                  <a:srgbClr val="E5E0DF"/>
                </a:solidFill>
                <a:latin typeface="Overpass Bold" pitchFamily="34" charset="0"/>
                <a:ea typeface="Overpass Bold" pitchFamily="34" charset="-122"/>
                <a:cs typeface="Overpass Bold" pitchFamily="34" charset="-120"/>
              </a:rPr>
              <a:t>Misión</a:t>
            </a:r>
            <a:endParaRPr lang="en-US" sz="1950" dirty="0"/>
          </a:p>
        </p:txBody>
      </p:sp>
      <p:sp>
        <p:nvSpPr>
          <p:cNvPr id="11" name="Text 5"/>
          <p:cNvSpPr/>
          <p:nvPr/>
        </p:nvSpPr>
        <p:spPr>
          <a:xfrm>
            <a:off x="6415088" y="3594021"/>
            <a:ext cx="4267200" cy="344567"/>
          </a:xfrm>
          <a:prstGeom prst="rect">
            <a:avLst/>
          </a:prstGeom>
          <a:noFill/>
          <a:ln/>
        </p:spPr>
        <p:txBody>
          <a:bodyPr wrap="none" lIns="0" tIns="0" rIns="0" bIns="0" rtlCol="0" anchor="t"/>
          <a:lstStyle/>
          <a:p>
            <a:pPr marL="0" indent="0" algn="l">
              <a:lnSpc>
                <a:spcPts val="2700"/>
              </a:lnSpc>
              <a:buNone/>
            </a:pPr>
            <a:r>
              <a:rPr lang="en-US" sz="1650" dirty="0">
                <a:solidFill>
                  <a:srgbClr val="E5E0DF"/>
                </a:solidFill>
                <a:latin typeface="Overpass" pitchFamily="34" charset="0"/>
                <a:ea typeface="Overpass" pitchFamily="34" charset="-122"/>
                <a:cs typeface="Overpass" pitchFamily="34" charset="-120"/>
              </a:rPr>
              <a:t>Superar expectativas con equipo profesional</a:t>
            </a:r>
            <a:endParaRPr lang="en-US" sz="1650" dirty="0"/>
          </a:p>
        </p:txBody>
      </p:sp>
      <p:sp>
        <p:nvSpPr>
          <p:cNvPr id="12" name="Shape 6"/>
          <p:cNvSpPr/>
          <p:nvPr/>
        </p:nvSpPr>
        <p:spPr>
          <a:xfrm>
            <a:off x="6253520" y="4165640"/>
            <a:ext cx="7569041" cy="15240"/>
          </a:xfrm>
          <a:prstGeom prst="roundRect">
            <a:avLst>
              <a:gd name="adj" fmla="val 593740"/>
            </a:avLst>
          </a:prstGeom>
          <a:solidFill>
            <a:srgbClr val="971B55"/>
          </a:solidFill>
          <a:ln/>
        </p:spPr>
      </p:sp>
      <p:pic>
        <p:nvPicPr>
          <p:cNvPr id="13" name="Image 4" descr="preencoded.png"/>
          <p:cNvPicPr>
            <a:picLocks noChangeAspect="1"/>
          </p:cNvPicPr>
          <p:nvPr/>
        </p:nvPicPr>
        <p:blipFill>
          <a:blip r:embed="rId7"/>
          <a:stretch>
            <a:fillRect/>
          </a:stretch>
        </p:blipFill>
        <p:spPr>
          <a:xfrm>
            <a:off x="786765" y="4207788"/>
            <a:ext cx="6495455" cy="1221343"/>
          </a:xfrm>
          <a:prstGeom prst="rect">
            <a:avLst/>
          </a:prstGeom>
        </p:spPr>
      </p:pic>
      <p:pic>
        <p:nvPicPr>
          <p:cNvPr id="14" name="Image 5" descr="preencoded.png"/>
          <p:cNvPicPr>
            <a:picLocks noChangeAspect="1"/>
          </p:cNvPicPr>
          <p:nvPr/>
        </p:nvPicPr>
        <p:blipFill>
          <a:blip r:embed="rId8"/>
          <a:stretch>
            <a:fillRect/>
          </a:stretch>
        </p:blipFill>
        <p:spPr>
          <a:xfrm>
            <a:off x="3882985" y="4629150"/>
            <a:ext cx="302895" cy="378619"/>
          </a:xfrm>
          <a:prstGeom prst="rect">
            <a:avLst/>
          </a:prstGeom>
        </p:spPr>
      </p:pic>
      <p:sp>
        <p:nvSpPr>
          <p:cNvPr id="15" name="Text 7"/>
          <p:cNvSpPr/>
          <p:nvPr/>
        </p:nvSpPr>
        <p:spPr>
          <a:xfrm>
            <a:off x="7497604" y="4423172"/>
            <a:ext cx="2534603" cy="316825"/>
          </a:xfrm>
          <a:prstGeom prst="rect">
            <a:avLst/>
          </a:prstGeom>
          <a:noFill/>
          <a:ln/>
        </p:spPr>
        <p:txBody>
          <a:bodyPr wrap="none" lIns="0" tIns="0" rIns="0" bIns="0" rtlCol="0" anchor="t"/>
          <a:lstStyle/>
          <a:p>
            <a:pPr marL="0" indent="0" algn="l">
              <a:lnSpc>
                <a:spcPts val="2450"/>
              </a:lnSpc>
              <a:buNone/>
            </a:pPr>
            <a:r>
              <a:rPr lang="en-US" sz="1950" b="1" dirty="0">
                <a:solidFill>
                  <a:srgbClr val="E5E0DF"/>
                </a:solidFill>
                <a:latin typeface="Overpass Bold" pitchFamily="34" charset="0"/>
                <a:ea typeface="Overpass Bold" pitchFamily="34" charset="-122"/>
                <a:cs typeface="Overpass Bold" pitchFamily="34" charset="-120"/>
              </a:rPr>
              <a:t>Valores</a:t>
            </a:r>
            <a:endParaRPr lang="en-US" sz="1950" dirty="0"/>
          </a:p>
        </p:txBody>
      </p:sp>
      <p:sp>
        <p:nvSpPr>
          <p:cNvPr id="16" name="Text 8"/>
          <p:cNvSpPr/>
          <p:nvPr/>
        </p:nvSpPr>
        <p:spPr>
          <a:xfrm>
            <a:off x="7497604" y="4869180"/>
            <a:ext cx="5177195" cy="344567"/>
          </a:xfrm>
          <a:prstGeom prst="rect">
            <a:avLst/>
          </a:prstGeom>
          <a:noFill/>
          <a:ln/>
        </p:spPr>
        <p:txBody>
          <a:bodyPr wrap="none" lIns="0" tIns="0" rIns="0" bIns="0" rtlCol="0" anchor="t"/>
          <a:lstStyle/>
          <a:p>
            <a:pPr marL="0" indent="0" algn="l">
              <a:lnSpc>
                <a:spcPts val="2700"/>
              </a:lnSpc>
              <a:buNone/>
            </a:pPr>
            <a:r>
              <a:rPr lang="en-US" sz="1650" dirty="0">
                <a:solidFill>
                  <a:srgbClr val="E5E0DF"/>
                </a:solidFill>
                <a:latin typeface="Overpass" pitchFamily="34" charset="0"/>
                <a:ea typeface="Overpass" pitchFamily="34" charset="-122"/>
                <a:cs typeface="Overpass" pitchFamily="34" charset="-120"/>
              </a:rPr>
              <a:t>Respeto, Integridad, Compromiso, Innovación, Calidad</a:t>
            </a:r>
            <a:endParaRPr lang="en-US" sz="1650" dirty="0"/>
          </a:p>
        </p:txBody>
      </p:sp>
      <p:sp>
        <p:nvSpPr>
          <p:cNvPr id="17" name="Text 9"/>
          <p:cNvSpPr/>
          <p:nvPr/>
        </p:nvSpPr>
        <p:spPr>
          <a:xfrm>
            <a:off x="754023" y="5671423"/>
            <a:ext cx="13122354" cy="1033701"/>
          </a:xfrm>
          <a:prstGeom prst="rect">
            <a:avLst/>
          </a:prstGeom>
          <a:noFill/>
          <a:ln/>
        </p:spPr>
        <p:txBody>
          <a:bodyPr wrap="square" lIns="0" tIns="0" rIns="0" bIns="0" rtlCol="0" anchor="t"/>
          <a:lstStyle/>
          <a:p>
            <a:pPr marL="0" indent="0" algn="l">
              <a:lnSpc>
                <a:spcPts val="2700"/>
              </a:lnSpc>
              <a:buNone/>
            </a:pPr>
            <a:r>
              <a:rPr lang="en-US" sz="1650" dirty="0">
                <a:solidFill>
                  <a:srgbClr val="E5E0DF"/>
                </a:solidFill>
                <a:latin typeface="Overpass" pitchFamily="34" charset="0"/>
                <a:ea typeface="Overpass" pitchFamily="34" charset="-122"/>
                <a:cs typeface="Overpass" pitchFamily="34" charset="-120"/>
              </a:rPr>
              <a:t>La filosofía empresarial de Productos Toledano se fundamenta en ofrecer productos que superen las expectativas de sus clientes, respaldados por un equipo humano profesional y motivado. Su visión apunta a consolidarse como líderes innovadores a nivel regional, ofreciendo productos de la más alta calidad y manteniendo una sólida posición financiera.</a:t>
            </a:r>
            <a:endParaRPr lang="en-US" sz="1650" dirty="0"/>
          </a:p>
        </p:txBody>
      </p:sp>
      <p:sp>
        <p:nvSpPr>
          <p:cNvPr id="18" name="Text 10"/>
          <p:cNvSpPr/>
          <p:nvPr/>
        </p:nvSpPr>
        <p:spPr>
          <a:xfrm>
            <a:off x="754023" y="6947416"/>
            <a:ext cx="13122354" cy="689134"/>
          </a:xfrm>
          <a:prstGeom prst="rect">
            <a:avLst/>
          </a:prstGeom>
          <a:noFill/>
          <a:ln/>
        </p:spPr>
        <p:txBody>
          <a:bodyPr wrap="square" lIns="0" tIns="0" rIns="0" bIns="0" rtlCol="0" anchor="t"/>
          <a:lstStyle/>
          <a:p>
            <a:pPr marL="0" indent="0" algn="l">
              <a:lnSpc>
                <a:spcPts val="2700"/>
              </a:lnSpc>
              <a:buNone/>
            </a:pPr>
            <a:r>
              <a:rPr lang="en-US" sz="1650" dirty="0">
                <a:solidFill>
                  <a:srgbClr val="E5E0DF"/>
                </a:solidFill>
                <a:latin typeface="Overpass" pitchFamily="34" charset="0"/>
                <a:ea typeface="Overpass" pitchFamily="34" charset="-122"/>
                <a:cs typeface="Overpass" pitchFamily="34" charset="-120"/>
              </a:rPr>
              <a:t>Los valores corporativos como el respeto, la integridad, el compromiso, la innovación y la calidad guían todas las operaciones de la empresa, creando una cultura organizacional sólida y orientada a la excelencia.</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16982" y="625435"/>
            <a:ext cx="4547830" cy="518517"/>
          </a:xfrm>
          <a:prstGeom prst="rect">
            <a:avLst/>
          </a:prstGeom>
          <a:noFill/>
          <a:ln/>
        </p:spPr>
        <p:txBody>
          <a:bodyPr wrap="none" lIns="0" tIns="0" rIns="0" bIns="0" rtlCol="0" anchor="t"/>
          <a:lstStyle/>
          <a:p>
            <a:pPr marL="0" indent="0" algn="l">
              <a:lnSpc>
                <a:spcPts val="4050"/>
              </a:lnSpc>
              <a:buNone/>
            </a:pPr>
            <a:r>
              <a:rPr lang="en-US" sz="3250" b="1" dirty="0">
                <a:solidFill>
                  <a:srgbClr val="FFFFFF"/>
                </a:solidFill>
                <a:latin typeface="Overpass Bold" pitchFamily="34" charset="0"/>
                <a:ea typeface="Overpass Bold" pitchFamily="34" charset="-122"/>
                <a:cs typeface="Overpass Bold" pitchFamily="34" charset="-120"/>
              </a:rPr>
              <a:t>Portafolio de Productos</a:t>
            </a:r>
            <a:endParaRPr lang="en-US" sz="3250" dirty="0"/>
          </a:p>
        </p:txBody>
      </p:sp>
      <p:sp>
        <p:nvSpPr>
          <p:cNvPr id="4" name="Shape 1"/>
          <p:cNvSpPr/>
          <p:nvPr/>
        </p:nvSpPr>
        <p:spPr>
          <a:xfrm>
            <a:off x="616982" y="1408271"/>
            <a:ext cx="7910036" cy="1014651"/>
          </a:xfrm>
          <a:prstGeom prst="roundRect">
            <a:avLst>
              <a:gd name="adj" fmla="val 7297"/>
            </a:avLst>
          </a:prstGeom>
          <a:solidFill>
            <a:srgbClr val="7E023C"/>
          </a:solidFill>
          <a:ln w="7620">
            <a:solidFill>
              <a:srgbClr val="971B55"/>
            </a:solidFill>
            <a:prstDash val="solid"/>
          </a:ln>
        </p:spPr>
      </p:sp>
      <p:sp>
        <p:nvSpPr>
          <p:cNvPr id="5" name="Text 2"/>
          <p:cNvSpPr/>
          <p:nvPr/>
        </p:nvSpPr>
        <p:spPr>
          <a:xfrm>
            <a:off x="800814" y="1592104"/>
            <a:ext cx="2403396" cy="259199"/>
          </a:xfrm>
          <a:prstGeom prst="rect">
            <a:avLst/>
          </a:prstGeom>
          <a:noFill/>
          <a:ln/>
        </p:spPr>
        <p:txBody>
          <a:bodyPr wrap="none" lIns="0" tIns="0" rIns="0" bIns="0" rtlCol="0" anchor="t"/>
          <a:lstStyle/>
          <a:p>
            <a:pPr marL="0" indent="0" algn="l">
              <a:lnSpc>
                <a:spcPts val="2000"/>
              </a:lnSpc>
              <a:buNone/>
            </a:pPr>
            <a:r>
              <a:rPr lang="en-US" sz="1600" b="1" dirty="0">
                <a:solidFill>
                  <a:srgbClr val="E5E0DF"/>
                </a:solidFill>
                <a:latin typeface="Overpass Bold" pitchFamily="34" charset="0"/>
                <a:ea typeface="Overpass Bold" pitchFamily="34" charset="-122"/>
                <a:cs typeface="Overpass Bold" pitchFamily="34" charset="-120"/>
              </a:rPr>
              <a:t>Pollo Fresco y Congelado</a:t>
            </a:r>
            <a:endParaRPr lang="en-US" sz="1600" dirty="0"/>
          </a:p>
        </p:txBody>
      </p:sp>
      <p:sp>
        <p:nvSpPr>
          <p:cNvPr id="6" name="Text 3"/>
          <p:cNvSpPr/>
          <p:nvPr/>
        </p:nvSpPr>
        <p:spPr>
          <a:xfrm>
            <a:off x="800814" y="1957030"/>
            <a:ext cx="7542371" cy="282059"/>
          </a:xfrm>
          <a:prstGeom prst="rect">
            <a:avLst/>
          </a:prstGeom>
          <a:noFill/>
          <a:ln/>
        </p:spPr>
        <p:txBody>
          <a:bodyPr wrap="none" lIns="0" tIns="0" rIns="0" bIns="0" rtlCol="0" anchor="t"/>
          <a:lstStyle/>
          <a:p>
            <a:pPr marL="0" indent="0" algn="l">
              <a:lnSpc>
                <a:spcPts val="2200"/>
              </a:lnSpc>
              <a:buNone/>
            </a:pPr>
            <a:r>
              <a:rPr lang="en-US" sz="1350" dirty="0">
                <a:solidFill>
                  <a:srgbClr val="E5E0DF"/>
                </a:solidFill>
                <a:latin typeface="Overpass" pitchFamily="34" charset="0"/>
                <a:ea typeface="Overpass" pitchFamily="34" charset="-122"/>
                <a:cs typeface="Overpass" pitchFamily="34" charset="-120"/>
              </a:rPr>
              <a:t>Variedad de cortes y presentaciones para satisfacer diferentes necesidades culinarias.</a:t>
            </a:r>
            <a:endParaRPr lang="en-US" sz="1350" dirty="0"/>
          </a:p>
        </p:txBody>
      </p:sp>
      <p:sp>
        <p:nvSpPr>
          <p:cNvPr id="7" name="Shape 4"/>
          <p:cNvSpPr/>
          <p:nvPr/>
        </p:nvSpPr>
        <p:spPr>
          <a:xfrm>
            <a:off x="616982" y="2599134"/>
            <a:ext cx="7910036" cy="1014651"/>
          </a:xfrm>
          <a:prstGeom prst="roundRect">
            <a:avLst>
              <a:gd name="adj" fmla="val 7297"/>
            </a:avLst>
          </a:prstGeom>
          <a:solidFill>
            <a:srgbClr val="7E023C"/>
          </a:solidFill>
          <a:ln w="7620">
            <a:solidFill>
              <a:srgbClr val="971B55"/>
            </a:solidFill>
            <a:prstDash val="solid"/>
          </a:ln>
        </p:spPr>
      </p:sp>
      <p:sp>
        <p:nvSpPr>
          <p:cNvPr id="8" name="Text 5"/>
          <p:cNvSpPr/>
          <p:nvPr/>
        </p:nvSpPr>
        <p:spPr>
          <a:xfrm>
            <a:off x="800814" y="2782967"/>
            <a:ext cx="2073950" cy="259199"/>
          </a:xfrm>
          <a:prstGeom prst="rect">
            <a:avLst/>
          </a:prstGeom>
          <a:noFill/>
          <a:ln/>
        </p:spPr>
        <p:txBody>
          <a:bodyPr wrap="none" lIns="0" tIns="0" rIns="0" bIns="0" rtlCol="0" anchor="t"/>
          <a:lstStyle/>
          <a:p>
            <a:pPr marL="0" indent="0" algn="l">
              <a:lnSpc>
                <a:spcPts val="2000"/>
              </a:lnSpc>
              <a:buNone/>
            </a:pPr>
            <a:r>
              <a:rPr lang="en-US" sz="1600" b="1" dirty="0">
                <a:solidFill>
                  <a:srgbClr val="E5E0DF"/>
                </a:solidFill>
                <a:latin typeface="Overpass Bold" pitchFamily="34" charset="0"/>
                <a:ea typeface="Overpass Bold" pitchFamily="34" charset="-122"/>
                <a:cs typeface="Overpass Bold" pitchFamily="34" charset="-120"/>
              </a:rPr>
              <a:t>Embutidos</a:t>
            </a:r>
            <a:endParaRPr lang="en-US" sz="1600" dirty="0"/>
          </a:p>
        </p:txBody>
      </p:sp>
      <p:sp>
        <p:nvSpPr>
          <p:cNvPr id="9" name="Text 6"/>
          <p:cNvSpPr/>
          <p:nvPr/>
        </p:nvSpPr>
        <p:spPr>
          <a:xfrm>
            <a:off x="800814" y="3147893"/>
            <a:ext cx="7542371" cy="282059"/>
          </a:xfrm>
          <a:prstGeom prst="rect">
            <a:avLst/>
          </a:prstGeom>
          <a:noFill/>
          <a:ln/>
        </p:spPr>
        <p:txBody>
          <a:bodyPr wrap="none" lIns="0" tIns="0" rIns="0" bIns="0" rtlCol="0" anchor="t"/>
          <a:lstStyle/>
          <a:p>
            <a:pPr marL="0" indent="0" algn="l">
              <a:lnSpc>
                <a:spcPts val="2200"/>
              </a:lnSpc>
              <a:buNone/>
            </a:pPr>
            <a:r>
              <a:rPr lang="en-US" sz="1350" dirty="0">
                <a:solidFill>
                  <a:srgbClr val="E5E0DF"/>
                </a:solidFill>
                <a:latin typeface="Overpass" pitchFamily="34" charset="0"/>
                <a:ea typeface="Overpass" pitchFamily="34" charset="-122"/>
                <a:cs typeface="Overpass" pitchFamily="34" charset="-120"/>
              </a:rPr>
              <a:t>Salchichas, jamones y chorizos elaborados con los más altos estándares de calidad.</a:t>
            </a:r>
            <a:endParaRPr lang="en-US" sz="1350" dirty="0"/>
          </a:p>
        </p:txBody>
      </p:sp>
      <p:sp>
        <p:nvSpPr>
          <p:cNvPr id="10" name="Shape 7"/>
          <p:cNvSpPr/>
          <p:nvPr/>
        </p:nvSpPr>
        <p:spPr>
          <a:xfrm>
            <a:off x="616982" y="3789998"/>
            <a:ext cx="7910036" cy="1014651"/>
          </a:xfrm>
          <a:prstGeom prst="roundRect">
            <a:avLst>
              <a:gd name="adj" fmla="val 7297"/>
            </a:avLst>
          </a:prstGeom>
          <a:solidFill>
            <a:srgbClr val="7E023C"/>
          </a:solidFill>
          <a:ln w="7620">
            <a:solidFill>
              <a:srgbClr val="971B55"/>
            </a:solidFill>
            <a:prstDash val="solid"/>
          </a:ln>
        </p:spPr>
      </p:sp>
      <p:sp>
        <p:nvSpPr>
          <p:cNvPr id="11" name="Text 8"/>
          <p:cNvSpPr/>
          <p:nvPr/>
        </p:nvSpPr>
        <p:spPr>
          <a:xfrm>
            <a:off x="800814" y="3973830"/>
            <a:ext cx="2104549" cy="259199"/>
          </a:xfrm>
          <a:prstGeom prst="rect">
            <a:avLst/>
          </a:prstGeom>
          <a:noFill/>
          <a:ln/>
        </p:spPr>
        <p:txBody>
          <a:bodyPr wrap="none" lIns="0" tIns="0" rIns="0" bIns="0" rtlCol="0" anchor="t"/>
          <a:lstStyle/>
          <a:p>
            <a:pPr marL="0" indent="0" algn="l">
              <a:lnSpc>
                <a:spcPts val="2000"/>
              </a:lnSpc>
              <a:buNone/>
            </a:pPr>
            <a:r>
              <a:rPr lang="en-US" sz="1600" b="1" dirty="0">
                <a:solidFill>
                  <a:srgbClr val="E5E0DF"/>
                </a:solidFill>
                <a:latin typeface="Overpass Bold" pitchFamily="34" charset="0"/>
                <a:ea typeface="Overpass Bold" pitchFamily="34" charset="-122"/>
                <a:cs typeface="Overpass Bold" pitchFamily="34" charset="-120"/>
              </a:rPr>
              <a:t>Productos Precocidos</a:t>
            </a:r>
            <a:endParaRPr lang="en-US" sz="1600" dirty="0"/>
          </a:p>
        </p:txBody>
      </p:sp>
      <p:sp>
        <p:nvSpPr>
          <p:cNvPr id="12" name="Text 9"/>
          <p:cNvSpPr/>
          <p:nvPr/>
        </p:nvSpPr>
        <p:spPr>
          <a:xfrm>
            <a:off x="800814" y="4338757"/>
            <a:ext cx="7542371" cy="282059"/>
          </a:xfrm>
          <a:prstGeom prst="rect">
            <a:avLst/>
          </a:prstGeom>
          <a:noFill/>
          <a:ln/>
        </p:spPr>
        <p:txBody>
          <a:bodyPr wrap="none" lIns="0" tIns="0" rIns="0" bIns="0" rtlCol="0" anchor="t"/>
          <a:lstStyle/>
          <a:p>
            <a:pPr marL="0" indent="0" algn="l">
              <a:lnSpc>
                <a:spcPts val="2200"/>
              </a:lnSpc>
              <a:buNone/>
            </a:pPr>
            <a:r>
              <a:rPr lang="en-US" sz="1350" dirty="0">
                <a:solidFill>
                  <a:srgbClr val="E5E0DF"/>
                </a:solidFill>
                <a:latin typeface="Overpass" pitchFamily="34" charset="0"/>
                <a:ea typeface="Overpass" pitchFamily="34" charset="-122"/>
                <a:cs typeface="Overpass" pitchFamily="34" charset="-120"/>
              </a:rPr>
              <a:t>Opciones listas para consumir que facilitan la preparación de comidas rápidas y nutritivas.</a:t>
            </a:r>
            <a:endParaRPr lang="en-US" sz="1350" dirty="0"/>
          </a:p>
        </p:txBody>
      </p:sp>
      <p:sp>
        <p:nvSpPr>
          <p:cNvPr id="13" name="Shape 10"/>
          <p:cNvSpPr/>
          <p:nvPr/>
        </p:nvSpPr>
        <p:spPr>
          <a:xfrm>
            <a:off x="616982" y="4980861"/>
            <a:ext cx="7910036" cy="1296710"/>
          </a:xfrm>
          <a:prstGeom prst="roundRect">
            <a:avLst>
              <a:gd name="adj" fmla="val 5710"/>
            </a:avLst>
          </a:prstGeom>
          <a:solidFill>
            <a:srgbClr val="7E023C"/>
          </a:solidFill>
          <a:ln w="7620">
            <a:solidFill>
              <a:srgbClr val="971B55"/>
            </a:solidFill>
            <a:prstDash val="solid"/>
          </a:ln>
        </p:spPr>
      </p:sp>
      <p:sp>
        <p:nvSpPr>
          <p:cNvPr id="14" name="Text 11"/>
          <p:cNvSpPr/>
          <p:nvPr/>
        </p:nvSpPr>
        <p:spPr>
          <a:xfrm>
            <a:off x="800814" y="5164693"/>
            <a:ext cx="2374821" cy="259199"/>
          </a:xfrm>
          <a:prstGeom prst="rect">
            <a:avLst/>
          </a:prstGeom>
          <a:noFill/>
          <a:ln/>
        </p:spPr>
        <p:txBody>
          <a:bodyPr wrap="none" lIns="0" tIns="0" rIns="0" bIns="0" rtlCol="0" anchor="t"/>
          <a:lstStyle/>
          <a:p>
            <a:pPr marL="0" indent="0" algn="l">
              <a:lnSpc>
                <a:spcPts val="2000"/>
              </a:lnSpc>
              <a:buNone/>
            </a:pPr>
            <a:r>
              <a:rPr lang="en-US" sz="1600" b="1" dirty="0">
                <a:solidFill>
                  <a:srgbClr val="E5E0DF"/>
                </a:solidFill>
                <a:latin typeface="Overpass Bold" pitchFamily="34" charset="0"/>
                <a:ea typeface="Overpass Bold" pitchFamily="34" charset="-122"/>
                <a:cs typeface="Overpass Bold" pitchFamily="34" charset="-120"/>
              </a:rPr>
              <a:t>Línea "Toledano Pa Hoy"</a:t>
            </a:r>
            <a:endParaRPr lang="en-US" sz="1600" dirty="0"/>
          </a:p>
        </p:txBody>
      </p:sp>
      <p:sp>
        <p:nvSpPr>
          <p:cNvPr id="15" name="Text 12"/>
          <p:cNvSpPr/>
          <p:nvPr/>
        </p:nvSpPr>
        <p:spPr>
          <a:xfrm>
            <a:off x="800814" y="5529620"/>
            <a:ext cx="7542371" cy="564118"/>
          </a:xfrm>
          <a:prstGeom prst="rect">
            <a:avLst/>
          </a:prstGeom>
          <a:noFill/>
          <a:ln/>
        </p:spPr>
        <p:txBody>
          <a:bodyPr wrap="square" lIns="0" tIns="0" rIns="0" bIns="0" rtlCol="0" anchor="t"/>
          <a:lstStyle/>
          <a:p>
            <a:pPr marL="0" indent="0" algn="l">
              <a:lnSpc>
                <a:spcPts val="2200"/>
              </a:lnSpc>
              <a:buNone/>
            </a:pPr>
            <a:r>
              <a:rPr lang="en-US" sz="1350" dirty="0">
                <a:solidFill>
                  <a:srgbClr val="E5E0DF"/>
                </a:solidFill>
                <a:latin typeface="Overpass" pitchFamily="34" charset="0"/>
                <a:ea typeface="Overpass" pitchFamily="34" charset="-122"/>
                <a:cs typeface="Overpass" pitchFamily="34" charset="-120"/>
              </a:rPr>
              <a:t>Productos diseñados específicamente para el consumo diario, combinando conveniencia y calidad.</a:t>
            </a:r>
            <a:endParaRPr lang="en-US" sz="1350" dirty="0"/>
          </a:p>
        </p:txBody>
      </p:sp>
      <p:sp>
        <p:nvSpPr>
          <p:cNvPr id="16" name="Text 13"/>
          <p:cNvSpPr/>
          <p:nvPr/>
        </p:nvSpPr>
        <p:spPr>
          <a:xfrm>
            <a:off x="616982" y="6475809"/>
            <a:ext cx="7910036" cy="1128236"/>
          </a:xfrm>
          <a:prstGeom prst="rect">
            <a:avLst/>
          </a:prstGeom>
          <a:noFill/>
          <a:ln/>
        </p:spPr>
        <p:txBody>
          <a:bodyPr wrap="square" lIns="0" tIns="0" rIns="0" bIns="0" rtlCol="0" anchor="t"/>
          <a:lstStyle/>
          <a:p>
            <a:pPr marL="0" indent="0" algn="l">
              <a:lnSpc>
                <a:spcPts val="2200"/>
              </a:lnSpc>
              <a:buNone/>
            </a:pPr>
            <a:r>
              <a:rPr lang="en-US" sz="1350" dirty="0">
                <a:solidFill>
                  <a:srgbClr val="E5E0DF"/>
                </a:solidFill>
                <a:latin typeface="Overpass" pitchFamily="34" charset="0"/>
                <a:ea typeface="Overpass" pitchFamily="34" charset="-122"/>
                <a:cs typeface="Overpass" pitchFamily="34" charset="-120"/>
              </a:rPr>
              <a:t>El sistema productivo de Toledano integra materia prima de calidad (pollos de engorde, especias, aditivos alimentarios), personal altamente capacitado, inversiones significativas en infraestructura y tecnología, y plantas procesadoras modernas con certificaciones de calidad. Este enfoque integral garantiza productos terminados que cumplen con las expectativas más exigentes del mercado.</a:t>
            </a:r>
            <a:endParaRPr lang="en-US" sz="1350" dirty="0"/>
          </a:p>
        </p:txBody>
      </p:sp>
      <p:pic>
        <p:nvPicPr>
          <p:cNvPr id="17" name="Imagen 16"/>
          <p:cNvPicPr>
            <a:picLocks noChangeAspect="1"/>
          </p:cNvPicPr>
          <p:nvPr/>
        </p:nvPicPr>
        <p:blipFill>
          <a:blip r:embed="rId3"/>
          <a:stretch>
            <a:fillRect/>
          </a:stretch>
        </p:blipFill>
        <p:spPr>
          <a:xfrm>
            <a:off x="9368852" y="0"/>
            <a:ext cx="5261548" cy="822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816293"/>
            <a:ext cx="7429976"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Overpass Bold" pitchFamily="34" charset="0"/>
                <a:ea typeface="Overpass Bold" pitchFamily="34" charset="-122"/>
                <a:cs typeface="Overpass Bold" pitchFamily="34" charset="-120"/>
              </a:rPr>
              <a:t>Clasificación y Competencia</a:t>
            </a:r>
            <a:endParaRPr lang="en-US" sz="4400" dirty="0"/>
          </a:p>
        </p:txBody>
      </p:sp>
      <p:sp>
        <p:nvSpPr>
          <p:cNvPr id="3" name="Text 1"/>
          <p:cNvSpPr/>
          <p:nvPr/>
        </p:nvSpPr>
        <p:spPr>
          <a:xfrm>
            <a:off x="837724" y="2118598"/>
            <a:ext cx="3331012" cy="351949"/>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Overpass Bold" pitchFamily="34" charset="0"/>
                <a:ea typeface="Overpass Bold" pitchFamily="34" charset="-122"/>
                <a:cs typeface="Overpass Bold" pitchFamily="34" charset="-120"/>
              </a:rPr>
              <a:t>Clasificación Empresarial</a:t>
            </a:r>
            <a:endParaRPr lang="en-US" sz="2200" dirty="0"/>
          </a:p>
        </p:txBody>
      </p:sp>
      <p:sp>
        <p:nvSpPr>
          <p:cNvPr id="4" name="Text 2"/>
          <p:cNvSpPr/>
          <p:nvPr/>
        </p:nvSpPr>
        <p:spPr>
          <a:xfrm>
            <a:off x="837724" y="2709863"/>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Sector secundario (industria alimentaria)</a:t>
            </a:r>
            <a:endParaRPr lang="en-US" sz="1850" dirty="0"/>
          </a:p>
        </p:txBody>
      </p:sp>
      <p:sp>
        <p:nvSpPr>
          <p:cNvPr id="5" name="Text 3"/>
          <p:cNvSpPr/>
          <p:nvPr/>
        </p:nvSpPr>
        <p:spPr>
          <a:xfrm>
            <a:off x="837724" y="3176588"/>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Gran empresa (más de 2,000 empleados)</a:t>
            </a:r>
            <a:endParaRPr lang="en-US" sz="1850" dirty="0"/>
          </a:p>
        </p:txBody>
      </p:sp>
      <p:sp>
        <p:nvSpPr>
          <p:cNvPr id="6" name="Text 4"/>
          <p:cNvSpPr/>
          <p:nvPr/>
        </p:nvSpPr>
        <p:spPr>
          <a:xfrm>
            <a:off x="837724" y="3643313"/>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Operación nacional e internacional</a:t>
            </a:r>
            <a:endParaRPr lang="en-US" sz="1850" dirty="0"/>
          </a:p>
        </p:txBody>
      </p:sp>
      <p:sp>
        <p:nvSpPr>
          <p:cNvPr id="7" name="Text 5"/>
          <p:cNvSpPr/>
          <p:nvPr/>
        </p:nvSpPr>
        <p:spPr>
          <a:xfrm>
            <a:off x="837724" y="4110038"/>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Propiedad privada, capital panameño</a:t>
            </a:r>
            <a:endParaRPr lang="en-US" sz="1850" dirty="0"/>
          </a:p>
        </p:txBody>
      </p:sp>
      <p:sp>
        <p:nvSpPr>
          <p:cNvPr id="8" name="Text 6"/>
          <p:cNvSpPr/>
          <p:nvPr/>
        </p:nvSpPr>
        <p:spPr>
          <a:xfrm>
            <a:off x="7614761" y="2118598"/>
            <a:ext cx="3351014" cy="351949"/>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Overpass Bold" pitchFamily="34" charset="0"/>
                <a:ea typeface="Overpass Bold" pitchFamily="34" charset="-122"/>
                <a:cs typeface="Overpass Bold" pitchFamily="34" charset="-120"/>
              </a:rPr>
              <a:t>Principales Competidores</a:t>
            </a:r>
            <a:endParaRPr lang="en-US" sz="2200" dirty="0"/>
          </a:p>
        </p:txBody>
      </p:sp>
      <p:sp>
        <p:nvSpPr>
          <p:cNvPr id="9" name="Text 7"/>
          <p:cNvSpPr/>
          <p:nvPr/>
        </p:nvSpPr>
        <p:spPr>
          <a:xfrm>
            <a:off x="7614761" y="2709863"/>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Melo S.A.</a:t>
            </a:r>
            <a:endParaRPr lang="en-US" sz="1850" dirty="0"/>
          </a:p>
        </p:txBody>
      </p:sp>
      <p:sp>
        <p:nvSpPr>
          <p:cNvPr id="10" name="Text 8"/>
          <p:cNvSpPr/>
          <p:nvPr/>
        </p:nvSpPr>
        <p:spPr>
          <a:xfrm>
            <a:off x="7614761" y="3176588"/>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Avícola Grecia</a:t>
            </a:r>
            <a:endParaRPr lang="en-US" sz="1850" dirty="0"/>
          </a:p>
        </p:txBody>
      </p:sp>
      <p:sp>
        <p:nvSpPr>
          <p:cNvPr id="11" name="Text 9"/>
          <p:cNvSpPr/>
          <p:nvPr/>
        </p:nvSpPr>
        <p:spPr>
          <a:xfrm>
            <a:off x="7614761" y="3643313"/>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Avícola Panamá</a:t>
            </a:r>
            <a:endParaRPr lang="en-US" sz="1850" dirty="0"/>
          </a:p>
        </p:txBody>
      </p:sp>
      <p:sp>
        <p:nvSpPr>
          <p:cNvPr id="12" name="Text 10"/>
          <p:cNvSpPr/>
          <p:nvPr/>
        </p:nvSpPr>
        <p:spPr>
          <a:xfrm>
            <a:off x="7614761" y="4110038"/>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E5E0DF"/>
                </a:solidFill>
                <a:latin typeface="Overpass" pitchFamily="34" charset="0"/>
                <a:ea typeface="Overpass" pitchFamily="34" charset="-122"/>
                <a:cs typeface="Overpass" pitchFamily="34" charset="-120"/>
              </a:rPr>
              <a:t>Industrias Cárnicas de Panamá (INCAPA)</a:t>
            </a:r>
            <a:endParaRPr lang="en-US" sz="1850" dirty="0"/>
          </a:p>
        </p:txBody>
      </p:sp>
      <p:sp>
        <p:nvSpPr>
          <p:cNvPr id="13" name="Text 11"/>
          <p:cNvSpPr/>
          <p:nvPr/>
        </p:nvSpPr>
        <p:spPr>
          <a:xfrm>
            <a:off x="837724" y="4845963"/>
            <a:ext cx="12954952" cy="1532096"/>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Productos Toledano opera en un mercado competitivo donde mantiene una posición destacada gracias a su trayectoria y calidad. Como empresa del sector secundario dedicada a la transformación de materias primas en productos alimenticios, ha logrado establecerse como una gran empresa con presencia tanto nacional como internacional, particularmente en mercados centroamericanos.</a:t>
            </a:r>
            <a:endParaRPr lang="en-US" sz="1850" dirty="0"/>
          </a:p>
        </p:txBody>
      </p:sp>
      <p:sp>
        <p:nvSpPr>
          <p:cNvPr id="14" name="Text 12"/>
          <p:cNvSpPr/>
          <p:nvPr/>
        </p:nvSpPr>
        <p:spPr>
          <a:xfrm>
            <a:off x="837724" y="6647259"/>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E5E0DF"/>
                </a:solidFill>
                <a:latin typeface="Overpass" pitchFamily="34" charset="0"/>
                <a:ea typeface="Overpass" pitchFamily="34" charset="-122"/>
                <a:cs typeface="Overpass" pitchFamily="34" charset="-120"/>
              </a:rPr>
              <a:t>La competencia en el sector avícola panameño incluye importantes actores como Melo S.A., Avícola Grecia, Avícola Panamá e INCAPA, lo que impulsa a la empresa a mantener altos estándares de innovación y calidad.</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2124" y="1152049"/>
            <a:ext cx="12571690" cy="674013"/>
          </a:xfrm>
          <a:prstGeom prst="rect">
            <a:avLst/>
          </a:prstGeom>
          <a:noFill/>
          <a:ln/>
        </p:spPr>
        <p:txBody>
          <a:bodyPr wrap="none" lIns="0" tIns="0" rIns="0" bIns="0" rtlCol="0" anchor="t"/>
          <a:lstStyle/>
          <a:p>
            <a:pPr marL="0" indent="0" algn="l">
              <a:lnSpc>
                <a:spcPts val="5300"/>
              </a:lnSpc>
              <a:buNone/>
            </a:pPr>
            <a:r>
              <a:rPr lang="en-US" sz="4200" b="1" dirty="0">
                <a:solidFill>
                  <a:srgbClr val="FFFFFF"/>
                </a:solidFill>
                <a:latin typeface="Overpass Bold" pitchFamily="34" charset="0"/>
                <a:ea typeface="Overpass Bold" pitchFamily="34" charset="-122"/>
                <a:cs typeface="Overpass Bold" pitchFamily="34" charset="-120"/>
              </a:rPr>
              <a:t>Estrategia de Marketing y Estructura Organizativa</a:t>
            </a:r>
            <a:endParaRPr lang="en-US" sz="4200" dirty="0"/>
          </a:p>
        </p:txBody>
      </p:sp>
      <p:pic>
        <p:nvPicPr>
          <p:cNvPr id="3" name="Image 0" descr="preencoded.png"/>
          <p:cNvPicPr>
            <a:picLocks noChangeAspect="1"/>
          </p:cNvPicPr>
          <p:nvPr/>
        </p:nvPicPr>
        <p:blipFill>
          <a:blip r:embed="rId3"/>
          <a:stretch>
            <a:fillRect/>
          </a:stretch>
        </p:blipFill>
        <p:spPr>
          <a:xfrm>
            <a:off x="802124" y="2324338"/>
            <a:ext cx="572929" cy="572929"/>
          </a:xfrm>
          <a:prstGeom prst="rect">
            <a:avLst/>
          </a:prstGeom>
        </p:spPr>
      </p:pic>
      <p:sp>
        <p:nvSpPr>
          <p:cNvPr id="4" name="Text 1"/>
          <p:cNvSpPr/>
          <p:nvPr/>
        </p:nvSpPr>
        <p:spPr>
          <a:xfrm>
            <a:off x="1604129" y="2420303"/>
            <a:ext cx="2239685" cy="337066"/>
          </a:xfrm>
          <a:prstGeom prst="rect">
            <a:avLst/>
          </a:prstGeom>
          <a:noFill/>
          <a:ln/>
        </p:spPr>
        <p:txBody>
          <a:bodyPr wrap="none" lIns="0" tIns="0" rIns="0" bIns="0" rtlCol="0" anchor="t"/>
          <a:lstStyle/>
          <a:p>
            <a:pPr marL="0" indent="0" algn="l">
              <a:lnSpc>
                <a:spcPts val="2650"/>
              </a:lnSpc>
              <a:buNone/>
            </a:pPr>
            <a:r>
              <a:rPr lang="en-US" sz="2100" b="1" dirty="0">
                <a:solidFill>
                  <a:srgbClr val="E5E0DF"/>
                </a:solidFill>
                <a:latin typeface="Overpass Bold" pitchFamily="34" charset="0"/>
                <a:ea typeface="Overpass Bold" pitchFamily="34" charset="-122"/>
                <a:cs typeface="Overpass Bold" pitchFamily="34" charset="-120"/>
              </a:rPr>
              <a:t>Producto</a:t>
            </a:r>
            <a:endParaRPr lang="en-US" sz="2100" dirty="0"/>
          </a:p>
        </p:txBody>
      </p:sp>
      <p:sp>
        <p:nvSpPr>
          <p:cNvPr id="5" name="Text 2"/>
          <p:cNvSpPr/>
          <p:nvPr/>
        </p:nvSpPr>
        <p:spPr>
          <a:xfrm>
            <a:off x="1604129" y="2894767"/>
            <a:ext cx="2239685" cy="1466850"/>
          </a:xfrm>
          <a:prstGeom prst="rect">
            <a:avLst/>
          </a:prstGeom>
          <a:noFill/>
          <a:ln/>
        </p:spPr>
        <p:txBody>
          <a:bodyPr wrap="square" lIns="0" tIns="0" rIns="0" bIns="0" rtlCol="0" anchor="t"/>
          <a:lstStyle/>
          <a:p>
            <a:pPr marL="0" indent="0" algn="l">
              <a:lnSpc>
                <a:spcPts val="2850"/>
              </a:lnSpc>
              <a:buNone/>
            </a:pPr>
            <a:r>
              <a:rPr lang="en-US" sz="1800" dirty="0">
                <a:solidFill>
                  <a:srgbClr val="E5E0DF"/>
                </a:solidFill>
                <a:latin typeface="Overpass" pitchFamily="34" charset="0"/>
                <a:ea typeface="Overpass" pitchFamily="34" charset="-122"/>
                <a:cs typeface="Overpass" pitchFamily="34" charset="-120"/>
              </a:rPr>
              <a:t>Variedad de productos avícolas y cárnicos de alta calidad</a:t>
            </a:r>
            <a:endParaRPr lang="en-US" sz="1800" dirty="0"/>
          </a:p>
        </p:txBody>
      </p:sp>
      <p:pic>
        <p:nvPicPr>
          <p:cNvPr id="6" name="Image 1" descr="preencoded.png"/>
          <p:cNvPicPr>
            <a:picLocks noChangeAspect="1"/>
          </p:cNvPicPr>
          <p:nvPr/>
        </p:nvPicPr>
        <p:blipFill>
          <a:blip r:embed="rId4"/>
          <a:stretch>
            <a:fillRect/>
          </a:stretch>
        </p:blipFill>
        <p:spPr>
          <a:xfrm>
            <a:off x="4130278" y="2324338"/>
            <a:ext cx="572929" cy="572929"/>
          </a:xfrm>
          <a:prstGeom prst="rect">
            <a:avLst/>
          </a:prstGeom>
        </p:spPr>
      </p:pic>
      <p:sp>
        <p:nvSpPr>
          <p:cNvPr id="7" name="Text 3"/>
          <p:cNvSpPr/>
          <p:nvPr/>
        </p:nvSpPr>
        <p:spPr>
          <a:xfrm>
            <a:off x="4932283" y="2420303"/>
            <a:ext cx="2239685" cy="337066"/>
          </a:xfrm>
          <a:prstGeom prst="rect">
            <a:avLst/>
          </a:prstGeom>
          <a:noFill/>
          <a:ln/>
        </p:spPr>
        <p:txBody>
          <a:bodyPr wrap="none" lIns="0" tIns="0" rIns="0" bIns="0" rtlCol="0" anchor="t"/>
          <a:lstStyle/>
          <a:p>
            <a:pPr marL="0" indent="0" algn="l">
              <a:lnSpc>
                <a:spcPts val="2650"/>
              </a:lnSpc>
              <a:buNone/>
            </a:pPr>
            <a:r>
              <a:rPr lang="en-US" sz="2100" b="1" dirty="0">
                <a:solidFill>
                  <a:srgbClr val="E5E0DF"/>
                </a:solidFill>
                <a:latin typeface="Overpass Bold" pitchFamily="34" charset="0"/>
                <a:ea typeface="Overpass Bold" pitchFamily="34" charset="-122"/>
                <a:cs typeface="Overpass Bold" pitchFamily="34" charset="-120"/>
              </a:rPr>
              <a:t>Precio</a:t>
            </a:r>
            <a:endParaRPr lang="en-US" sz="2100" dirty="0"/>
          </a:p>
        </p:txBody>
      </p:sp>
      <p:sp>
        <p:nvSpPr>
          <p:cNvPr id="8" name="Text 4"/>
          <p:cNvSpPr/>
          <p:nvPr/>
        </p:nvSpPr>
        <p:spPr>
          <a:xfrm>
            <a:off x="4932283" y="2894767"/>
            <a:ext cx="2239685" cy="1466850"/>
          </a:xfrm>
          <a:prstGeom prst="rect">
            <a:avLst/>
          </a:prstGeom>
          <a:noFill/>
          <a:ln/>
        </p:spPr>
        <p:txBody>
          <a:bodyPr wrap="square" lIns="0" tIns="0" rIns="0" bIns="0" rtlCol="0" anchor="t"/>
          <a:lstStyle/>
          <a:p>
            <a:pPr marL="0" indent="0" algn="l">
              <a:lnSpc>
                <a:spcPts val="2850"/>
              </a:lnSpc>
              <a:buNone/>
            </a:pPr>
            <a:r>
              <a:rPr lang="en-US" sz="1800" dirty="0">
                <a:solidFill>
                  <a:srgbClr val="E5E0DF"/>
                </a:solidFill>
                <a:latin typeface="Overpass" pitchFamily="34" charset="0"/>
                <a:ea typeface="Overpass" pitchFamily="34" charset="-122"/>
                <a:cs typeface="Overpass" pitchFamily="34" charset="-120"/>
              </a:rPr>
              <a:t>Competitivo, accesible para diferentes segmentos del mercado</a:t>
            </a:r>
            <a:endParaRPr lang="en-US" sz="1800" dirty="0"/>
          </a:p>
        </p:txBody>
      </p:sp>
      <p:pic>
        <p:nvPicPr>
          <p:cNvPr id="9" name="Image 2" descr="preencoded.png"/>
          <p:cNvPicPr>
            <a:picLocks noChangeAspect="1"/>
          </p:cNvPicPr>
          <p:nvPr/>
        </p:nvPicPr>
        <p:blipFill>
          <a:blip r:embed="rId5"/>
          <a:stretch>
            <a:fillRect/>
          </a:stretch>
        </p:blipFill>
        <p:spPr>
          <a:xfrm>
            <a:off x="7458432" y="2324338"/>
            <a:ext cx="572929" cy="572929"/>
          </a:xfrm>
          <a:prstGeom prst="rect">
            <a:avLst/>
          </a:prstGeom>
        </p:spPr>
      </p:pic>
      <p:sp>
        <p:nvSpPr>
          <p:cNvPr id="10" name="Text 5"/>
          <p:cNvSpPr/>
          <p:nvPr/>
        </p:nvSpPr>
        <p:spPr>
          <a:xfrm>
            <a:off x="8260437" y="2420303"/>
            <a:ext cx="2239685" cy="337066"/>
          </a:xfrm>
          <a:prstGeom prst="rect">
            <a:avLst/>
          </a:prstGeom>
          <a:noFill/>
          <a:ln/>
        </p:spPr>
        <p:txBody>
          <a:bodyPr wrap="none" lIns="0" tIns="0" rIns="0" bIns="0" rtlCol="0" anchor="t"/>
          <a:lstStyle/>
          <a:p>
            <a:pPr marL="0" indent="0" algn="l">
              <a:lnSpc>
                <a:spcPts val="2650"/>
              </a:lnSpc>
              <a:buNone/>
            </a:pPr>
            <a:r>
              <a:rPr lang="en-US" sz="2100" b="1" dirty="0">
                <a:solidFill>
                  <a:srgbClr val="E5E0DF"/>
                </a:solidFill>
                <a:latin typeface="Overpass Bold" pitchFamily="34" charset="0"/>
                <a:ea typeface="Overpass Bold" pitchFamily="34" charset="-122"/>
                <a:cs typeface="Overpass Bold" pitchFamily="34" charset="-120"/>
              </a:rPr>
              <a:t>Plaza</a:t>
            </a:r>
            <a:endParaRPr lang="en-US" sz="2100" dirty="0"/>
          </a:p>
        </p:txBody>
      </p:sp>
      <p:sp>
        <p:nvSpPr>
          <p:cNvPr id="11" name="Text 6"/>
          <p:cNvSpPr/>
          <p:nvPr/>
        </p:nvSpPr>
        <p:spPr>
          <a:xfrm>
            <a:off x="8260437" y="2894767"/>
            <a:ext cx="2239685" cy="1466850"/>
          </a:xfrm>
          <a:prstGeom prst="rect">
            <a:avLst/>
          </a:prstGeom>
          <a:noFill/>
          <a:ln/>
        </p:spPr>
        <p:txBody>
          <a:bodyPr wrap="square" lIns="0" tIns="0" rIns="0" bIns="0" rtlCol="0" anchor="t"/>
          <a:lstStyle/>
          <a:p>
            <a:pPr marL="0" indent="0" algn="l">
              <a:lnSpc>
                <a:spcPts val="2850"/>
              </a:lnSpc>
              <a:buNone/>
            </a:pPr>
            <a:r>
              <a:rPr lang="en-US" sz="1800" dirty="0">
                <a:solidFill>
                  <a:srgbClr val="E5E0DF"/>
                </a:solidFill>
                <a:latin typeface="Overpass" pitchFamily="34" charset="0"/>
                <a:ea typeface="Overpass" pitchFamily="34" charset="-122"/>
                <a:cs typeface="Overpass" pitchFamily="34" charset="-120"/>
              </a:rPr>
              <a:t>Distribución nacional en supermercados, minisúper y tiendas de barrio</a:t>
            </a:r>
            <a:endParaRPr lang="en-US" sz="1800" dirty="0"/>
          </a:p>
        </p:txBody>
      </p:sp>
      <p:pic>
        <p:nvPicPr>
          <p:cNvPr id="12" name="Image 3" descr="preencoded.png"/>
          <p:cNvPicPr>
            <a:picLocks noChangeAspect="1"/>
          </p:cNvPicPr>
          <p:nvPr/>
        </p:nvPicPr>
        <p:blipFill>
          <a:blip r:embed="rId6"/>
          <a:stretch>
            <a:fillRect/>
          </a:stretch>
        </p:blipFill>
        <p:spPr>
          <a:xfrm>
            <a:off x="10786586" y="2324338"/>
            <a:ext cx="572929" cy="572929"/>
          </a:xfrm>
          <a:prstGeom prst="rect">
            <a:avLst/>
          </a:prstGeom>
        </p:spPr>
      </p:pic>
      <p:sp>
        <p:nvSpPr>
          <p:cNvPr id="13" name="Text 7"/>
          <p:cNvSpPr/>
          <p:nvPr/>
        </p:nvSpPr>
        <p:spPr>
          <a:xfrm>
            <a:off x="11588591" y="2420303"/>
            <a:ext cx="2239685" cy="337066"/>
          </a:xfrm>
          <a:prstGeom prst="rect">
            <a:avLst/>
          </a:prstGeom>
          <a:noFill/>
          <a:ln/>
        </p:spPr>
        <p:txBody>
          <a:bodyPr wrap="none" lIns="0" tIns="0" rIns="0" bIns="0" rtlCol="0" anchor="t"/>
          <a:lstStyle/>
          <a:p>
            <a:pPr marL="0" indent="0" algn="l">
              <a:lnSpc>
                <a:spcPts val="2650"/>
              </a:lnSpc>
              <a:buNone/>
            </a:pPr>
            <a:r>
              <a:rPr lang="en-US" sz="2100" b="1" dirty="0">
                <a:solidFill>
                  <a:srgbClr val="E5E0DF"/>
                </a:solidFill>
                <a:latin typeface="Overpass Bold" pitchFamily="34" charset="0"/>
                <a:ea typeface="Overpass Bold" pitchFamily="34" charset="-122"/>
                <a:cs typeface="Overpass Bold" pitchFamily="34" charset="-120"/>
              </a:rPr>
              <a:t>Promoción</a:t>
            </a:r>
            <a:endParaRPr lang="en-US" sz="2100" dirty="0"/>
          </a:p>
        </p:txBody>
      </p:sp>
      <p:sp>
        <p:nvSpPr>
          <p:cNvPr id="14" name="Text 8"/>
          <p:cNvSpPr/>
          <p:nvPr/>
        </p:nvSpPr>
        <p:spPr>
          <a:xfrm>
            <a:off x="11588591" y="2894767"/>
            <a:ext cx="2239685" cy="1466850"/>
          </a:xfrm>
          <a:prstGeom prst="rect">
            <a:avLst/>
          </a:prstGeom>
          <a:noFill/>
          <a:ln/>
        </p:spPr>
        <p:txBody>
          <a:bodyPr wrap="square" lIns="0" tIns="0" rIns="0" bIns="0" rtlCol="0" anchor="t"/>
          <a:lstStyle/>
          <a:p>
            <a:pPr marL="0" indent="0" algn="l">
              <a:lnSpc>
                <a:spcPts val="2850"/>
              </a:lnSpc>
              <a:buNone/>
            </a:pPr>
            <a:r>
              <a:rPr lang="en-US" sz="1800" dirty="0">
                <a:solidFill>
                  <a:srgbClr val="E5E0DF"/>
                </a:solidFill>
                <a:latin typeface="Overpass" pitchFamily="34" charset="0"/>
                <a:ea typeface="Overpass" pitchFamily="34" charset="-122"/>
                <a:cs typeface="Overpass" pitchFamily="34" charset="-120"/>
              </a:rPr>
              <a:t>Campañas en medios tradicionales y digitales, presencia en redes sociales</a:t>
            </a:r>
            <a:endParaRPr lang="en-US" sz="1800" dirty="0"/>
          </a:p>
        </p:txBody>
      </p:sp>
      <p:sp>
        <p:nvSpPr>
          <p:cNvPr id="15" name="Text 9"/>
          <p:cNvSpPr/>
          <p:nvPr/>
        </p:nvSpPr>
        <p:spPr>
          <a:xfrm>
            <a:off x="802124" y="4619387"/>
            <a:ext cx="13026152" cy="1100138"/>
          </a:xfrm>
          <a:prstGeom prst="rect">
            <a:avLst/>
          </a:prstGeom>
          <a:noFill/>
          <a:ln/>
        </p:spPr>
        <p:txBody>
          <a:bodyPr wrap="square" lIns="0" tIns="0" rIns="0" bIns="0" rtlCol="0" anchor="t"/>
          <a:lstStyle/>
          <a:p>
            <a:pPr marL="0" indent="0" algn="l">
              <a:lnSpc>
                <a:spcPts val="2850"/>
              </a:lnSpc>
              <a:buNone/>
            </a:pPr>
            <a:r>
              <a:rPr lang="en-US" sz="1800" dirty="0">
                <a:solidFill>
                  <a:srgbClr val="E5E0DF"/>
                </a:solidFill>
                <a:latin typeface="Overpass" pitchFamily="34" charset="0"/>
                <a:ea typeface="Overpass" pitchFamily="34" charset="-122"/>
                <a:cs typeface="Overpass" pitchFamily="34" charset="-120"/>
              </a:rPr>
              <a:t>La estrategia de marketing de Productos Toledano se basa en las cuatro P's del marketing mix, ofreciendo productos de calidad a precios competitivos, con una amplia red de distribución y estrategias promocionales efectivas. Esta aproximación integral ha permitido a la empresa mantener su posicionamiento en el mercado a lo largo de los años.</a:t>
            </a:r>
            <a:endParaRPr lang="en-US" sz="1800" dirty="0"/>
          </a:p>
        </p:txBody>
      </p:sp>
      <p:sp>
        <p:nvSpPr>
          <p:cNvPr id="16" name="Text 10"/>
          <p:cNvSpPr/>
          <p:nvPr/>
        </p:nvSpPr>
        <p:spPr>
          <a:xfrm>
            <a:off x="802124" y="5977295"/>
            <a:ext cx="13026152" cy="1100138"/>
          </a:xfrm>
          <a:prstGeom prst="rect">
            <a:avLst/>
          </a:prstGeom>
          <a:noFill/>
          <a:ln/>
        </p:spPr>
        <p:txBody>
          <a:bodyPr wrap="square" lIns="0" tIns="0" rIns="0" bIns="0" rtlCol="0" anchor="t"/>
          <a:lstStyle/>
          <a:p>
            <a:pPr marL="0" indent="0" algn="l">
              <a:lnSpc>
                <a:spcPts val="2850"/>
              </a:lnSpc>
              <a:buNone/>
            </a:pPr>
            <a:r>
              <a:rPr lang="en-US" sz="1800" dirty="0">
                <a:solidFill>
                  <a:srgbClr val="E5E0DF"/>
                </a:solidFill>
                <a:latin typeface="Overpass" pitchFamily="34" charset="0"/>
                <a:ea typeface="Overpass" pitchFamily="34" charset="-122"/>
                <a:cs typeface="Overpass" pitchFamily="34" charset="-120"/>
              </a:rPr>
              <a:t>Su estructura organizativa está diseñada para optimizar los procesos operativos y administrativos, contando con más de 2,200 colaboradores distribuidos en diversas áreas funcionales que trabajan de manera coordinada para alcanzar los objetivos empresariales.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0801" y="542806"/>
            <a:ext cx="4644509" cy="580549"/>
          </a:xfrm>
          <a:prstGeom prst="rect">
            <a:avLst/>
          </a:prstGeom>
          <a:noFill/>
          <a:ln/>
        </p:spPr>
        <p:txBody>
          <a:bodyPr wrap="none" lIns="0" tIns="0" rIns="0" bIns="0" rtlCol="0" anchor="t"/>
          <a:lstStyle/>
          <a:p>
            <a:pPr marL="0" indent="0" algn="l">
              <a:lnSpc>
                <a:spcPts val="4550"/>
              </a:lnSpc>
              <a:buNone/>
            </a:pPr>
            <a:r>
              <a:rPr lang="en-US" sz="3650" b="1" dirty="0">
                <a:solidFill>
                  <a:srgbClr val="FFFFFF"/>
                </a:solidFill>
                <a:latin typeface="Overpass Bold" pitchFamily="34" charset="0"/>
                <a:ea typeface="Overpass Bold" pitchFamily="34" charset="-122"/>
                <a:cs typeface="Overpass Bold" pitchFamily="34" charset="-120"/>
              </a:rPr>
              <a:t>Análisis FODA</a:t>
            </a:r>
            <a:endParaRPr lang="en-US" sz="3650" dirty="0"/>
          </a:p>
        </p:txBody>
      </p:sp>
      <p:sp>
        <p:nvSpPr>
          <p:cNvPr id="3" name="Text 1"/>
          <p:cNvSpPr/>
          <p:nvPr/>
        </p:nvSpPr>
        <p:spPr>
          <a:xfrm>
            <a:off x="2378512" y="1856303"/>
            <a:ext cx="2322195" cy="290155"/>
          </a:xfrm>
          <a:prstGeom prst="rect">
            <a:avLst/>
          </a:prstGeom>
          <a:noFill/>
          <a:ln/>
        </p:spPr>
        <p:txBody>
          <a:bodyPr wrap="none" lIns="0" tIns="0" rIns="0" bIns="0" rtlCol="0" anchor="t"/>
          <a:lstStyle/>
          <a:p>
            <a:pPr marL="0" indent="0" algn="r">
              <a:lnSpc>
                <a:spcPts val="2250"/>
              </a:lnSpc>
              <a:buNone/>
            </a:pPr>
            <a:r>
              <a:rPr lang="en-US" sz="1800" b="1" dirty="0">
                <a:solidFill>
                  <a:srgbClr val="E5E0DF"/>
                </a:solidFill>
                <a:latin typeface="Overpass Bold" pitchFamily="34" charset="0"/>
                <a:ea typeface="Overpass Bold" pitchFamily="34" charset="-122"/>
                <a:cs typeface="Overpass Bold" pitchFamily="34" charset="-120"/>
              </a:rPr>
              <a:t>Fortalezas</a:t>
            </a:r>
            <a:endParaRPr lang="en-US" sz="1800" dirty="0"/>
          </a:p>
        </p:txBody>
      </p:sp>
      <p:sp>
        <p:nvSpPr>
          <p:cNvPr id="4" name="Text 2"/>
          <p:cNvSpPr/>
          <p:nvPr/>
        </p:nvSpPr>
        <p:spPr>
          <a:xfrm>
            <a:off x="690801" y="2264807"/>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Trayectoria de más de 70 años</a:t>
            </a:r>
            <a:endParaRPr lang="en-US" sz="1550" dirty="0"/>
          </a:p>
        </p:txBody>
      </p:sp>
      <p:sp>
        <p:nvSpPr>
          <p:cNvPr id="5" name="Text 3"/>
          <p:cNvSpPr/>
          <p:nvPr/>
        </p:nvSpPr>
        <p:spPr>
          <a:xfrm>
            <a:off x="690801" y="2649617"/>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Reconocimiento de marca</a:t>
            </a:r>
            <a:endParaRPr lang="en-US" sz="1550" dirty="0"/>
          </a:p>
        </p:txBody>
      </p:sp>
      <p:sp>
        <p:nvSpPr>
          <p:cNvPr id="6" name="Text 4"/>
          <p:cNvSpPr/>
          <p:nvPr/>
        </p:nvSpPr>
        <p:spPr>
          <a:xfrm>
            <a:off x="690801" y="3034427"/>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Infraestructura moderna</a:t>
            </a:r>
            <a:endParaRPr lang="en-US" sz="1550" dirty="0"/>
          </a:p>
        </p:txBody>
      </p:sp>
      <p:pic>
        <p:nvPicPr>
          <p:cNvPr id="7" name="Image 0" descr="preencoded.png"/>
          <p:cNvPicPr>
            <a:picLocks noChangeAspect="1"/>
          </p:cNvPicPr>
          <p:nvPr/>
        </p:nvPicPr>
        <p:blipFill>
          <a:blip r:embed="rId3"/>
          <a:stretch>
            <a:fillRect/>
          </a:stretch>
        </p:blipFill>
        <p:spPr>
          <a:xfrm>
            <a:off x="4996696" y="1518047"/>
            <a:ext cx="4637008" cy="4637008"/>
          </a:xfrm>
          <a:prstGeom prst="rect">
            <a:avLst/>
          </a:prstGeom>
        </p:spPr>
      </p:pic>
      <p:pic>
        <p:nvPicPr>
          <p:cNvPr id="8" name="Image 1" descr="preencoded.png"/>
          <p:cNvPicPr>
            <a:picLocks noChangeAspect="1"/>
          </p:cNvPicPr>
          <p:nvPr/>
        </p:nvPicPr>
        <p:blipFill>
          <a:blip r:embed="rId4"/>
          <a:stretch>
            <a:fillRect/>
          </a:stretch>
        </p:blipFill>
        <p:spPr>
          <a:xfrm>
            <a:off x="6019919" y="2504361"/>
            <a:ext cx="295275" cy="369094"/>
          </a:xfrm>
          <a:prstGeom prst="rect">
            <a:avLst/>
          </a:prstGeom>
        </p:spPr>
      </p:pic>
      <p:sp>
        <p:nvSpPr>
          <p:cNvPr id="9" name="Text 5"/>
          <p:cNvSpPr/>
          <p:nvPr/>
        </p:nvSpPr>
        <p:spPr>
          <a:xfrm>
            <a:off x="9929693" y="1856303"/>
            <a:ext cx="2322195" cy="290155"/>
          </a:xfrm>
          <a:prstGeom prst="rect">
            <a:avLst/>
          </a:prstGeom>
          <a:noFill/>
          <a:ln/>
        </p:spPr>
        <p:txBody>
          <a:bodyPr wrap="none" lIns="0" tIns="0" rIns="0" bIns="0" rtlCol="0" anchor="t"/>
          <a:lstStyle/>
          <a:p>
            <a:pPr marL="0" indent="0" algn="l">
              <a:lnSpc>
                <a:spcPts val="2250"/>
              </a:lnSpc>
              <a:buNone/>
            </a:pPr>
            <a:r>
              <a:rPr lang="en-US" sz="1800" b="1" dirty="0">
                <a:solidFill>
                  <a:srgbClr val="E5E0DF"/>
                </a:solidFill>
                <a:latin typeface="Overpass Bold" pitchFamily="34" charset="0"/>
                <a:ea typeface="Overpass Bold" pitchFamily="34" charset="-122"/>
                <a:cs typeface="Overpass Bold" pitchFamily="34" charset="-120"/>
              </a:rPr>
              <a:t>Oportunidades</a:t>
            </a:r>
            <a:endParaRPr lang="en-US" sz="1800" dirty="0"/>
          </a:p>
        </p:txBody>
      </p:sp>
      <p:sp>
        <p:nvSpPr>
          <p:cNvPr id="10" name="Text 6"/>
          <p:cNvSpPr/>
          <p:nvPr/>
        </p:nvSpPr>
        <p:spPr>
          <a:xfrm>
            <a:off x="9929693" y="2264807"/>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Expansión internacional</a:t>
            </a:r>
            <a:endParaRPr lang="en-US" sz="1550" dirty="0"/>
          </a:p>
        </p:txBody>
      </p:sp>
      <p:sp>
        <p:nvSpPr>
          <p:cNvPr id="11" name="Text 7"/>
          <p:cNvSpPr/>
          <p:nvPr/>
        </p:nvSpPr>
        <p:spPr>
          <a:xfrm>
            <a:off x="9929693" y="2649617"/>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Nuevas tendencias alimentarias</a:t>
            </a:r>
            <a:endParaRPr lang="en-US" sz="1550" dirty="0"/>
          </a:p>
        </p:txBody>
      </p:sp>
      <p:sp>
        <p:nvSpPr>
          <p:cNvPr id="12" name="Text 8"/>
          <p:cNvSpPr/>
          <p:nvPr/>
        </p:nvSpPr>
        <p:spPr>
          <a:xfrm>
            <a:off x="9929693" y="3034427"/>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Comercio electrónico</a:t>
            </a:r>
            <a:endParaRPr lang="en-US" sz="1550" dirty="0"/>
          </a:p>
        </p:txBody>
      </p:sp>
      <p:pic>
        <p:nvPicPr>
          <p:cNvPr id="13" name="Image 2" descr="preencoded.png"/>
          <p:cNvPicPr>
            <a:picLocks noChangeAspect="1"/>
          </p:cNvPicPr>
          <p:nvPr/>
        </p:nvPicPr>
        <p:blipFill>
          <a:blip r:embed="rId5"/>
          <a:stretch>
            <a:fillRect/>
          </a:stretch>
        </p:blipFill>
        <p:spPr>
          <a:xfrm>
            <a:off x="4996696" y="1518047"/>
            <a:ext cx="4637008" cy="4637008"/>
          </a:xfrm>
          <a:prstGeom prst="rect">
            <a:avLst/>
          </a:prstGeom>
        </p:spPr>
      </p:pic>
      <p:pic>
        <p:nvPicPr>
          <p:cNvPr id="14" name="Image 3" descr="preencoded.png"/>
          <p:cNvPicPr>
            <a:picLocks noChangeAspect="1"/>
          </p:cNvPicPr>
          <p:nvPr/>
        </p:nvPicPr>
        <p:blipFill>
          <a:blip r:embed="rId6"/>
          <a:stretch>
            <a:fillRect/>
          </a:stretch>
        </p:blipFill>
        <p:spPr>
          <a:xfrm>
            <a:off x="8315087" y="2504361"/>
            <a:ext cx="295275" cy="369094"/>
          </a:xfrm>
          <a:prstGeom prst="rect">
            <a:avLst/>
          </a:prstGeom>
        </p:spPr>
      </p:pic>
      <p:sp>
        <p:nvSpPr>
          <p:cNvPr id="15" name="Text 9"/>
          <p:cNvSpPr/>
          <p:nvPr/>
        </p:nvSpPr>
        <p:spPr>
          <a:xfrm>
            <a:off x="9929693" y="4515207"/>
            <a:ext cx="2322195" cy="290155"/>
          </a:xfrm>
          <a:prstGeom prst="rect">
            <a:avLst/>
          </a:prstGeom>
          <a:noFill/>
          <a:ln/>
        </p:spPr>
        <p:txBody>
          <a:bodyPr wrap="none" lIns="0" tIns="0" rIns="0" bIns="0" rtlCol="0" anchor="t"/>
          <a:lstStyle/>
          <a:p>
            <a:pPr marL="0" indent="0" algn="l">
              <a:lnSpc>
                <a:spcPts val="2250"/>
              </a:lnSpc>
              <a:buNone/>
            </a:pPr>
            <a:r>
              <a:rPr lang="en-US" sz="1800" b="1" dirty="0">
                <a:solidFill>
                  <a:srgbClr val="E5E0DF"/>
                </a:solidFill>
                <a:latin typeface="Overpass Bold" pitchFamily="34" charset="0"/>
                <a:ea typeface="Overpass Bold" pitchFamily="34" charset="-122"/>
                <a:cs typeface="Overpass Bold" pitchFamily="34" charset="-120"/>
              </a:rPr>
              <a:t>Debilidades</a:t>
            </a:r>
            <a:endParaRPr lang="en-US" sz="1800" dirty="0"/>
          </a:p>
        </p:txBody>
      </p:sp>
      <p:sp>
        <p:nvSpPr>
          <p:cNvPr id="16" name="Text 10"/>
          <p:cNvSpPr/>
          <p:nvPr/>
        </p:nvSpPr>
        <p:spPr>
          <a:xfrm>
            <a:off x="9929693" y="4923711"/>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Dependencia del mercado local</a:t>
            </a:r>
            <a:endParaRPr lang="en-US" sz="1550" dirty="0"/>
          </a:p>
        </p:txBody>
      </p:sp>
      <p:sp>
        <p:nvSpPr>
          <p:cNvPr id="17" name="Text 11"/>
          <p:cNvSpPr/>
          <p:nvPr/>
        </p:nvSpPr>
        <p:spPr>
          <a:xfrm>
            <a:off x="9929693" y="5308521"/>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Limitada diversificación</a:t>
            </a:r>
            <a:endParaRPr lang="en-US" sz="1550" dirty="0"/>
          </a:p>
        </p:txBody>
      </p:sp>
      <p:pic>
        <p:nvPicPr>
          <p:cNvPr id="18" name="Image 4" descr="preencoded.png"/>
          <p:cNvPicPr>
            <a:picLocks noChangeAspect="1"/>
          </p:cNvPicPr>
          <p:nvPr/>
        </p:nvPicPr>
        <p:blipFill>
          <a:blip r:embed="rId7"/>
          <a:stretch>
            <a:fillRect/>
          </a:stretch>
        </p:blipFill>
        <p:spPr>
          <a:xfrm>
            <a:off x="4996696" y="1518047"/>
            <a:ext cx="4637008" cy="4637008"/>
          </a:xfrm>
          <a:prstGeom prst="rect">
            <a:avLst/>
          </a:prstGeom>
        </p:spPr>
      </p:pic>
      <p:pic>
        <p:nvPicPr>
          <p:cNvPr id="19" name="Image 5" descr="preencoded.png"/>
          <p:cNvPicPr>
            <a:picLocks noChangeAspect="1"/>
          </p:cNvPicPr>
          <p:nvPr/>
        </p:nvPicPr>
        <p:blipFill>
          <a:blip r:embed="rId8"/>
          <a:stretch>
            <a:fillRect/>
          </a:stretch>
        </p:blipFill>
        <p:spPr>
          <a:xfrm>
            <a:off x="8315087" y="4799528"/>
            <a:ext cx="295275" cy="369094"/>
          </a:xfrm>
          <a:prstGeom prst="rect">
            <a:avLst/>
          </a:prstGeom>
        </p:spPr>
      </p:pic>
      <p:sp>
        <p:nvSpPr>
          <p:cNvPr id="20" name="Text 12"/>
          <p:cNvSpPr/>
          <p:nvPr/>
        </p:nvSpPr>
        <p:spPr>
          <a:xfrm>
            <a:off x="2378512" y="4322802"/>
            <a:ext cx="2322195" cy="290155"/>
          </a:xfrm>
          <a:prstGeom prst="rect">
            <a:avLst/>
          </a:prstGeom>
          <a:noFill/>
          <a:ln/>
        </p:spPr>
        <p:txBody>
          <a:bodyPr wrap="none" lIns="0" tIns="0" rIns="0" bIns="0" rtlCol="0" anchor="t"/>
          <a:lstStyle/>
          <a:p>
            <a:pPr marL="0" indent="0" algn="r">
              <a:lnSpc>
                <a:spcPts val="2250"/>
              </a:lnSpc>
              <a:buNone/>
            </a:pPr>
            <a:r>
              <a:rPr lang="en-US" sz="1800" b="1" dirty="0">
                <a:solidFill>
                  <a:srgbClr val="E5E0DF"/>
                </a:solidFill>
                <a:latin typeface="Overpass Bold" pitchFamily="34" charset="0"/>
                <a:ea typeface="Overpass Bold" pitchFamily="34" charset="-122"/>
                <a:cs typeface="Overpass Bold" pitchFamily="34" charset="-120"/>
              </a:rPr>
              <a:t>Amenazas</a:t>
            </a:r>
            <a:endParaRPr lang="en-US" sz="1800" dirty="0"/>
          </a:p>
        </p:txBody>
      </p:sp>
      <p:sp>
        <p:nvSpPr>
          <p:cNvPr id="21" name="Text 13"/>
          <p:cNvSpPr/>
          <p:nvPr/>
        </p:nvSpPr>
        <p:spPr>
          <a:xfrm>
            <a:off x="690801" y="4731306"/>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Competencia creciente</a:t>
            </a:r>
            <a:endParaRPr lang="en-US" sz="1550" dirty="0"/>
          </a:p>
        </p:txBody>
      </p:sp>
      <p:sp>
        <p:nvSpPr>
          <p:cNvPr id="22" name="Text 14"/>
          <p:cNvSpPr/>
          <p:nvPr/>
        </p:nvSpPr>
        <p:spPr>
          <a:xfrm>
            <a:off x="690801" y="5116116"/>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Fluctuación de precios</a:t>
            </a:r>
            <a:endParaRPr lang="en-US" sz="1550" dirty="0"/>
          </a:p>
        </p:txBody>
      </p:sp>
      <p:sp>
        <p:nvSpPr>
          <p:cNvPr id="23" name="Text 15"/>
          <p:cNvSpPr/>
          <p:nvPr/>
        </p:nvSpPr>
        <p:spPr>
          <a:xfrm>
            <a:off x="690801" y="5500926"/>
            <a:ext cx="4009906" cy="315754"/>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E5E0DF"/>
                </a:solidFill>
                <a:latin typeface="Overpass" pitchFamily="34" charset="0"/>
                <a:ea typeface="Overpass" pitchFamily="34" charset="-122"/>
                <a:cs typeface="Overpass" pitchFamily="34" charset="-120"/>
              </a:rPr>
              <a:t>Cambios regulatorios</a:t>
            </a:r>
            <a:endParaRPr lang="en-US" sz="1550" dirty="0"/>
          </a:p>
        </p:txBody>
      </p:sp>
      <p:pic>
        <p:nvPicPr>
          <p:cNvPr id="24" name="Image 6" descr="preencoded.png"/>
          <p:cNvPicPr>
            <a:picLocks noChangeAspect="1"/>
          </p:cNvPicPr>
          <p:nvPr/>
        </p:nvPicPr>
        <p:blipFill>
          <a:blip r:embed="rId9"/>
          <a:stretch>
            <a:fillRect/>
          </a:stretch>
        </p:blipFill>
        <p:spPr>
          <a:xfrm>
            <a:off x="4996696" y="1518047"/>
            <a:ext cx="4637008" cy="4637008"/>
          </a:xfrm>
          <a:prstGeom prst="rect">
            <a:avLst/>
          </a:prstGeom>
        </p:spPr>
      </p:pic>
      <p:pic>
        <p:nvPicPr>
          <p:cNvPr id="25" name="Image 7" descr="preencoded.png"/>
          <p:cNvPicPr>
            <a:picLocks noChangeAspect="1"/>
          </p:cNvPicPr>
          <p:nvPr/>
        </p:nvPicPr>
        <p:blipFill>
          <a:blip r:embed="rId10"/>
          <a:stretch>
            <a:fillRect/>
          </a:stretch>
        </p:blipFill>
        <p:spPr>
          <a:xfrm>
            <a:off x="6019919" y="4799528"/>
            <a:ext cx="295275" cy="369094"/>
          </a:xfrm>
          <a:prstGeom prst="rect">
            <a:avLst/>
          </a:prstGeom>
        </p:spPr>
      </p:pic>
      <p:sp>
        <p:nvSpPr>
          <p:cNvPr id="26" name="Text 16"/>
          <p:cNvSpPr/>
          <p:nvPr/>
        </p:nvSpPr>
        <p:spPr>
          <a:xfrm>
            <a:off x="690801" y="6377107"/>
            <a:ext cx="13248799" cy="947261"/>
          </a:xfrm>
          <a:prstGeom prst="rect">
            <a:avLst/>
          </a:prstGeom>
          <a:noFill/>
          <a:ln/>
        </p:spPr>
        <p:txBody>
          <a:bodyPr wrap="square" lIns="0" tIns="0" rIns="0" bIns="0" rtlCol="0" anchor="t"/>
          <a:lstStyle/>
          <a:p>
            <a:pPr marL="0" indent="0" algn="l">
              <a:lnSpc>
                <a:spcPts val="2450"/>
              </a:lnSpc>
              <a:buNone/>
            </a:pPr>
            <a:r>
              <a:rPr lang="en-US" sz="1550" dirty="0">
                <a:solidFill>
                  <a:srgbClr val="E5E0DF"/>
                </a:solidFill>
                <a:latin typeface="Overpass" pitchFamily="34" charset="0"/>
                <a:ea typeface="Overpass" pitchFamily="34" charset="-122"/>
                <a:cs typeface="Overpass" pitchFamily="34" charset="-120"/>
              </a:rPr>
              <a:t>El análisis FODA de Productos Toledano revela una empresa con sólidas fortalezas basadas en su experiencia y reconocimiento, pero también con desafíos que enfrentar. Las oportunidades de expansión y adaptación a nuevas tendencias alimentarias contrastan con amenazas como la creciente competencia y la volatilidad de los mercados.</a:t>
            </a:r>
            <a:endParaRPr lang="en-US" sz="1550" dirty="0"/>
          </a:p>
        </p:txBody>
      </p:sp>
      <p:sp>
        <p:nvSpPr>
          <p:cNvPr id="27" name="Text 17"/>
          <p:cNvSpPr/>
          <p:nvPr/>
        </p:nvSpPr>
        <p:spPr>
          <a:xfrm>
            <a:off x="690801" y="7546419"/>
            <a:ext cx="13248799" cy="631507"/>
          </a:xfrm>
          <a:prstGeom prst="rect">
            <a:avLst/>
          </a:prstGeom>
          <a:noFill/>
          <a:ln/>
        </p:spPr>
        <p:txBody>
          <a:bodyPr wrap="square" lIns="0" tIns="0" rIns="0" bIns="0" rtlCol="0" anchor="t"/>
          <a:lstStyle/>
          <a:p>
            <a:pPr marL="0" indent="0" algn="l">
              <a:lnSpc>
                <a:spcPts val="2450"/>
              </a:lnSpc>
              <a:buNone/>
            </a:pPr>
            <a:r>
              <a:rPr lang="en-US" sz="1550" dirty="0">
                <a:solidFill>
                  <a:srgbClr val="E5E0DF"/>
                </a:solidFill>
                <a:latin typeface="Overpass" pitchFamily="34" charset="0"/>
                <a:ea typeface="Overpass" pitchFamily="34" charset="-122"/>
                <a:cs typeface="Overpass" pitchFamily="34" charset="-120"/>
              </a:rPr>
              <a:t>Este diagnóstico estratégico proporciona una base para la toma de decisiones y el desarrollo de planes de acción que permitan capitalizar las fortalezas y oportunidades mientras se mitigan las debilidades y amenazas.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08303" y="594360"/>
            <a:ext cx="6731794" cy="595074"/>
          </a:xfrm>
          <a:prstGeom prst="rect">
            <a:avLst/>
          </a:prstGeom>
          <a:noFill/>
          <a:ln/>
        </p:spPr>
        <p:txBody>
          <a:bodyPr wrap="none" lIns="0" tIns="0" rIns="0" bIns="0" rtlCol="0" anchor="t"/>
          <a:lstStyle/>
          <a:p>
            <a:pPr marL="0" indent="0" algn="l">
              <a:lnSpc>
                <a:spcPts val="4650"/>
              </a:lnSpc>
              <a:buNone/>
            </a:pPr>
            <a:r>
              <a:rPr lang="en-US" sz="3700" b="1" dirty="0">
                <a:solidFill>
                  <a:srgbClr val="FFFFFF"/>
                </a:solidFill>
                <a:latin typeface="Overpass Bold" pitchFamily="34" charset="0"/>
                <a:ea typeface="Overpass Bold" pitchFamily="34" charset="-122"/>
                <a:cs typeface="Overpass Bold" pitchFamily="34" charset="-120"/>
              </a:rPr>
              <a:t>Plan de Mejora y Conclusiones</a:t>
            </a:r>
            <a:endParaRPr lang="en-US" sz="3700" dirty="0"/>
          </a:p>
        </p:txBody>
      </p:sp>
      <p:pic>
        <p:nvPicPr>
          <p:cNvPr id="3" name="Image 0" descr="preencoded.png"/>
          <p:cNvPicPr>
            <a:picLocks noChangeAspect="1"/>
          </p:cNvPicPr>
          <p:nvPr/>
        </p:nvPicPr>
        <p:blipFill>
          <a:blip r:embed="rId3"/>
          <a:stretch>
            <a:fillRect/>
          </a:stretch>
        </p:blipFill>
        <p:spPr>
          <a:xfrm>
            <a:off x="708303" y="1594128"/>
            <a:ext cx="1011793" cy="1214199"/>
          </a:xfrm>
          <a:prstGeom prst="rect">
            <a:avLst/>
          </a:prstGeom>
        </p:spPr>
      </p:pic>
      <p:sp>
        <p:nvSpPr>
          <p:cNvPr id="4" name="Text 1"/>
          <p:cNvSpPr/>
          <p:nvPr/>
        </p:nvSpPr>
        <p:spPr>
          <a:xfrm>
            <a:off x="2023586" y="1796415"/>
            <a:ext cx="2380893" cy="297656"/>
          </a:xfrm>
          <a:prstGeom prst="rect">
            <a:avLst/>
          </a:prstGeom>
          <a:noFill/>
          <a:ln/>
        </p:spPr>
        <p:txBody>
          <a:bodyPr wrap="none" lIns="0" tIns="0" rIns="0" bIns="0" rtlCol="0" anchor="t"/>
          <a:lstStyle/>
          <a:p>
            <a:pPr marL="0" indent="0" algn="l">
              <a:lnSpc>
                <a:spcPts val="2300"/>
              </a:lnSpc>
              <a:buNone/>
            </a:pPr>
            <a:r>
              <a:rPr lang="en-US" sz="1850" b="1" dirty="0">
                <a:solidFill>
                  <a:srgbClr val="E5E0DF"/>
                </a:solidFill>
                <a:latin typeface="Overpass Bold" pitchFamily="34" charset="0"/>
                <a:ea typeface="Overpass Bold" pitchFamily="34" charset="-122"/>
                <a:cs typeface="Overpass Bold" pitchFamily="34" charset="-120"/>
              </a:rPr>
              <a:t>Automatización</a:t>
            </a:r>
            <a:endParaRPr lang="en-US" sz="1850" dirty="0"/>
          </a:p>
        </p:txBody>
      </p:sp>
      <p:sp>
        <p:nvSpPr>
          <p:cNvPr id="5" name="Text 2"/>
          <p:cNvSpPr/>
          <p:nvPr/>
        </p:nvSpPr>
        <p:spPr>
          <a:xfrm>
            <a:off x="2023586" y="2215396"/>
            <a:ext cx="11898511" cy="32385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Overpass" pitchFamily="34" charset="0"/>
                <a:ea typeface="Overpass" pitchFamily="34" charset="-122"/>
                <a:cs typeface="Overpass" pitchFamily="34" charset="-120"/>
              </a:rPr>
              <a:t>Implementar tecnologías avanzadas en las plantas de procesamiento para aumentar la eficiencia operativa.</a:t>
            </a:r>
            <a:endParaRPr lang="en-US" sz="1550" dirty="0"/>
          </a:p>
        </p:txBody>
      </p:sp>
      <p:pic>
        <p:nvPicPr>
          <p:cNvPr id="6" name="Image 1" descr="preencoded.png"/>
          <p:cNvPicPr>
            <a:picLocks noChangeAspect="1"/>
          </p:cNvPicPr>
          <p:nvPr/>
        </p:nvPicPr>
        <p:blipFill>
          <a:blip r:embed="rId4"/>
          <a:stretch>
            <a:fillRect/>
          </a:stretch>
        </p:blipFill>
        <p:spPr>
          <a:xfrm>
            <a:off x="708303" y="2808327"/>
            <a:ext cx="1011793" cy="1214199"/>
          </a:xfrm>
          <a:prstGeom prst="rect">
            <a:avLst/>
          </a:prstGeom>
        </p:spPr>
      </p:pic>
      <p:sp>
        <p:nvSpPr>
          <p:cNvPr id="7" name="Text 3"/>
          <p:cNvSpPr/>
          <p:nvPr/>
        </p:nvSpPr>
        <p:spPr>
          <a:xfrm>
            <a:off x="2023586" y="3010614"/>
            <a:ext cx="2380893" cy="297656"/>
          </a:xfrm>
          <a:prstGeom prst="rect">
            <a:avLst/>
          </a:prstGeom>
          <a:noFill/>
          <a:ln/>
        </p:spPr>
        <p:txBody>
          <a:bodyPr wrap="none" lIns="0" tIns="0" rIns="0" bIns="0" rtlCol="0" anchor="t"/>
          <a:lstStyle/>
          <a:p>
            <a:pPr marL="0" indent="0" algn="l">
              <a:lnSpc>
                <a:spcPts val="2300"/>
              </a:lnSpc>
              <a:buNone/>
            </a:pPr>
            <a:r>
              <a:rPr lang="en-US" sz="1850" b="1" dirty="0">
                <a:solidFill>
                  <a:srgbClr val="E5E0DF"/>
                </a:solidFill>
                <a:latin typeface="Overpass Bold" pitchFamily="34" charset="0"/>
                <a:ea typeface="Overpass Bold" pitchFamily="34" charset="-122"/>
                <a:cs typeface="Overpass Bold" pitchFamily="34" charset="-120"/>
              </a:rPr>
              <a:t>Productos Orgánicos</a:t>
            </a:r>
            <a:endParaRPr lang="en-US" sz="1850" dirty="0"/>
          </a:p>
        </p:txBody>
      </p:sp>
      <p:sp>
        <p:nvSpPr>
          <p:cNvPr id="8" name="Text 4"/>
          <p:cNvSpPr/>
          <p:nvPr/>
        </p:nvSpPr>
        <p:spPr>
          <a:xfrm>
            <a:off x="2023586" y="3429595"/>
            <a:ext cx="11898511" cy="32385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Overpass" pitchFamily="34" charset="0"/>
                <a:ea typeface="Overpass" pitchFamily="34" charset="-122"/>
                <a:cs typeface="Overpass" pitchFamily="34" charset="-120"/>
              </a:rPr>
              <a:t>Desarrollar una línea de productos orgánicos y saludables para atender nuevos segmentos de mercado.</a:t>
            </a:r>
            <a:endParaRPr lang="en-US" sz="1550" dirty="0"/>
          </a:p>
        </p:txBody>
      </p:sp>
      <p:pic>
        <p:nvPicPr>
          <p:cNvPr id="9" name="Image 2" descr="preencoded.png"/>
          <p:cNvPicPr>
            <a:picLocks noChangeAspect="1"/>
          </p:cNvPicPr>
          <p:nvPr/>
        </p:nvPicPr>
        <p:blipFill>
          <a:blip r:embed="rId5"/>
          <a:stretch>
            <a:fillRect/>
          </a:stretch>
        </p:blipFill>
        <p:spPr>
          <a:xfrm>
            <a:off x="708303" y="4022527"/>
            <a:ext cx="1011793" cy="1214199"/>
          </a:xfrm>
          <a:prstGeom prst="rect">
            <a:avLst/>
          </a:prstGeom>
        </p:spPr>
      </p:pic>
      <p:sp>
        <p:nvSpPr>
          <p:cNvPr id="10" name="Text 5"/>
          <p:cNvSpPr/>
          <p:nvPr/>
        </p:nvSpPr>
        <p:spPr>
          <a:xfrm>
            <a:off x="2023586" y="4224814"/>
            <a:ext cx="2380893" cy="297656"/>
          </a:xfrm>
          <a:prstGeom prst="rect">
            <a:avLst/>
          </a:prstGeom>
          <a:noFill/>
          <a:ln/>
        </p:spPr>
        <p:txBody>
          <a:bodyPr wrap="none" lIns="0" tIns="0" rIns="0" bIns="0" rtlCol="0" anchor="t"/>
          <a:lstStyle/>
          <a:p>
            <a:pPr marL="0" indent="0" algn="l">
              <a:lnSpc>
                <a:spcPts val="2300"/>
              </a:lnSpc>
              <a:buNone/>
            </a:pPr>
            <a:r>
              <a:rPr lang="en-US" sz="1850" b="1" dirty="0">
                <a:solidFill>
                  <a:srgbClr val="E5E0DF"/>
                </a:solidFill>
                <a:latin typeface="Overpass Bold" pitchFamily="34" charset="0"/>
                <a:ea typeface="Overpass Bold" pitchFamily="34" charset="-122"/>
                <a:cs typeface="Overpass Bold" pitchFamily="34" charset="-120"/>
              </a:rPr>
              <a:t>Presencia Digital</a:t>
            </a:r>
            <a:endParaRPr lang="en-US" sz="1850" dirty="0"/>
          </a:p>
        </p:txBody>
      </p:sp>
      <p:sp>
        <p:nvSpPr>
          <p:cNvPr id="11" name="Text 6"/>
          <p:cNvSpPr/>
          <p:nvPr/>
        </p:nvSpPr>
        <p:spPr>
          <a:xfrm>
            <a:off x="2023586" y="4643795"/>
            <a:ext cx="11898511" cy="32385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Overpass" pitchFamily="34" charset="0"/>
                <a:ea typeface="Overpass" pitchFamily="34" charset="-122"/>
                <a:cs typeface="Overpass" pitchFamily="34" charset="-120"/>
              </a:rPr>
              <a:t>Fortalecer la presencia en redes sociales y plataformas digitales para conectar con nuevas audiencias.</a:t>
            </a:r>
            <a:endParaRPr lang="en-US" sz="1550" dirty="0"/>
          </a:p>
        </p:txBody>
      </p:sp>
      <p:sp>
        <p:nvSpPr>
          <p:cNvPr id="12" name="Text 7"/>
          <p:cNvSpPr/>
          <p:nvPr/>
        </p:nvSpPr>
        <p:spPr>
          <a:xfrm>
            <a:off x="708303" y="5464373"/>
            <a:ext cx="13213794" cy="1295400"/>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Overpass" pitchFamily="34" charset="0"/>
                <a:ea typeface="Overpass" pitchFamily="34" charset="-122"/>
                <a:cs typeface="Overpass" pitchFamily="34" charset="-120"/>
              </a:rPr>
              <a:t>El plan de mejora propuesto para Productos Toledano incluye una inversión estimada de $280,000 distribuidos en investigación y desarrollo ($50,000), tecnología y equipamiento ($200,000), y capacitación y marketing ($30,000). Este plan se implementaría en un periodo de seis meses, comenzando con la investigación y desarrollo de nuevos productos, seguido por la adquisición e instalación de nuevas tecnologías, y finalizando con la capacitación del personal y el lanzamiento de campañas publicitarias.</a:t>
            </a:r>
            <a:endParaRPr lang="en-US" sz="1550" dirty="0"/>
          </a:p>
        </p:txBody>
      </p:sp>
      <p:sp>
        <p:nvSpPr>
          <p:cNvPr id="13" name="Text 8"/>
          <p:cNvSpPr/>
          <p:nvPr/>
        </p:nvSpPr>
        <p:spPr>
          <a:xfrm>
            <a:off x="708303" y="6987421"/>
            <a:ext cx="13213794" cy="647700"/>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Overpass" pitchFamily="34" charset="0"/>
                <a:ea typeface="Overpass" pitchFamily="34" charset="-122"/>
                <a:cs typeface="Overpass" pitchFamily="34" charset="-120"/>
              </a:rPr>
              <a:t>En conclusión, Productos Toledano S.A. ha demostrado ser una empresa sólida y comprometida con la calidad y la innovación. Las mejoras propuestas fortalecerán su posición en el mercado y garantizarán su crecimiento sostenible en un entorno cada vez más competitivo y cambiante.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1103</Words>
  <Application>Microsoft Office PowerPoint</Application>
  <PresentationFormat>Personalizado</PresentationFormat>
  <Paragraphs>114</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Calibri</vt:lpstr>
      <vt:lpstr>Overpass</vt:lpstr>
      <vt:lpstr>Overpass 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Felipe Pinto</cp:lastModifiedBy>
  <cp:revision>6</cp:revision>
  <dcterms:created xsi:type="dcterms:W3CDTF">2025-05-13T17:40:11Z</dcterms:created>
  <dcterms:modified xsi:type="dcterms:W3CDTF">2025-05-13T18:19:43Z</dcterms:modified>
</cp:coreProperties>
</file>